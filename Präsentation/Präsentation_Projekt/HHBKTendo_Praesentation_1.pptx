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5" r:id="rId16"/>
    <p:sldId id="266" r:id="rId17"/>
    <p:sldId id="267" r:id="rId18"/>
    <p:sldId id="268" r:id="rId19"/>
    <p:sldId id="269" r:id="rId20"/>
    <p:sldId id="270" r:id="rId21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05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1A1A2E"/>
          </a:solidFill>
          <a:ln w="25400">
            <a:solidFill>
              <a:srgbClr val="E945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2560320"/>
            <a:ext cx="2011680" cy="2011680"/>
          </a:xfrm>
          <a:prstGeom prst="ellipse">
            <a:avLst/>
          </a:prstGeom>
          <a:solidFill>
            <a:srgbClr val="E94560">
              <a:alpha val="20000"/>
            </a:srgbClr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548640"/>
            <a:ext cx="365760" cy="36576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55280" y="1005840"/>
            <a:ext cx="274320" cy="2743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0" y="1097280"/>
            <a:ext cx="228600" cy="228600"/>
          </a:xfrm>
          <a:prstGeom prst="rect">
            <a:avLst/>
          </a:prstGeom>
          <a:solidFill>
            <a:srgbClr val="FFFFFF">
              <a:alpha val="4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972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HHBKTendo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dirty="0">
                <a:solidFill>
                  <a:srgbClr val="E9456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Spielesammlung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Strategiespiele mit MiniMax-KI · Bauernschach &amp; Tic-Tac-Toe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26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 Düsseldorf  ·  Lernfeld 5  ·  2026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4526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· SQLite · tkinter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Projektüberblick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 Spielesammlung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Strategiespiele: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&amp; Tic-Tac-Toe (4 gewinnt) auf je einem 6×6-Spielfeld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9728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9728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1234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KI-Gegner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MiniMax-Algorithmus mit Alpha-Beta-Pruning — für beide Spiele ohne Code-Duplizierung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Benutzerverwaltung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Login mit SHA-256-Passwort-Hashing · Gast-Modus verfügbar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411480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2834640"/>
            <a:ext cx="73152" cy="155448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29718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Bestenliste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 in SQLite gespeichert · Rangliste nach Schwierigkeitsgrad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Projektstruktur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64008" cy="7772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47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3035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GUI-Einstiegspunkt · Screens &amp; app_state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965960"/>
            <a:ext cx="64008" cy="7772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minimax.py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Generischer MiniMax + Alpha-Beta-Pruning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92608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pawn_chess.py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 · Züge &amp; Bewertungsfunktion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3886200"/>
            <a:ext cx="64008" cy="77724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tictactoe.py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 · Züge &amp; Bewertungsfunktion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00584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100584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10912" y="10698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auth.py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10912" y="1408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Registrierung · SHA-256 + Salt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196596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0" y="196596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10912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database.py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10912" y="23682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CRUD · Benutzer &amp; Spielergebnisse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292608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2926080"/>
            <a:ext cx="64008" cy="7772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10912" y="2990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test_all.py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10912" y="33284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(TC-01 bis TC-15)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46320" y="3886200"/>
            <a:ext cx="4114800" cy="7772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46320" y="3886200"/>
            <a:ext cx="64008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10912" y="39502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games.db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010912" y="428853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 · wird automatisch erstellt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MiniMax-Algorithmus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Alpha-Beta-Pruning · generisch für alle Spiele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411480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37160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Funktionsweise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38404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Rekursive Spielbaumsuche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Bewertet alle möglichen Züge bis zur definierten Tiefe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Maximizer vs. Minimizer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 maximiert · Mensch minimiert die Bewertung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Alpha-Beta-Pruning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Irrelevante Äste werden abgeschnitten → deutlich schneller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Callback-basiert &amp; wiederverwendbar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get_moves_fn · apply_move_fn · evaluate_fn · is_terminal_fn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34440"/>
            <a:ext cx="402336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92040" y="13716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Schwierigkeitsstufen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92040" y="187452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92040" y="1874520"/>
            <a:ext cx="64008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47488" y="19110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Leicht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191109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47488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Kaum strategisch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92040" y="246888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92040" y="2468880"/>
            <a:ext cx="64008" cy="47548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7488" y="250545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Mittel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250545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2ECC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47488" y="27157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Einfache Taktiken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306324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92040" y="3063240"/>
            <a:ext cx="64008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47488" y="30998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Schwer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0" y="30998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47488" y="331012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· empfohlen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92040" y="365760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92040" y="3657600"/>
            <a:ext cx="64008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3694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Experte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369417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47488" y="39044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92040" y="4251960"/>
            <a:ext cx="3749040" cy="475488"/>
          </a:xfrm>
          <a:prstGeom prst="roundRect">
            <a:avLst>
              <a:gd name="adj" fmla="val 9615"/>
            </a:avLst>
          </a:prstGeom>
          <a:solidFill>
            <a:srgbClr val="F8FAFF"/>
          </a:solidFill>
          <a:ln w="6350">
            <a:solidFill>
              <a:srgbClr val="E0E8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92040" y="4251960"/>
            <a:ext cx="64008" cy="475488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47488" y="428853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Meister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88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Tiefe 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47488" y="449884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stark · mehrere Sekunden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Bauernschach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Weiß (Mensch) vs. Schwarz (KI)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2E6DA4"/>
          </a:solidFill>
          <a:ln w="3810">
            <a:solidFill>
              <a:srgbClr val="285F9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D4E4F7"/>
          </a:solidFill>
          <a:ln w="3810">
            <a:solidFill>
              <a:srgbClr val="C0D4E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548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51560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627632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03704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79776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55848" y="1344168"/>
            <a:ext cx="356616" cy="356616"/>
          </a:xfrm>
          <a:prstGeom prst="ellipse">
            <a:avLst/>
          </a:prstGeom>
          <a:solidFill>
            <a:srgbClr val="1A1A1A"/>
          </a:solidFill>
          <a:ln w="6350">
            <a:solidFill>
              <a:srgbClr val="44444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548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51560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627632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203704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779776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55848" y="4224528"/>
            <a:ext cx="356616" cy="356616"/>
          </a:xfrm>
          <a:prstGeom prst="ellipse">
            <a:avLst/>
          </a:prstGeom>
          <a:solidFill>
            <a:srgbClr val="FFFFFF"/>
          </a:solidFill>
          <a:ln w="6350">
            <a:solidFill>
              <a:srgbClr val="AAAAA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KI (Schwarz)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408176" y="4782312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⬜ Mensch (Weiß)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4572000" y="1234440"/>
            <a:ext cx="4206240" cy="35204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709160" y="13716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Spielfeld &amp; Figuren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754880" y="16916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6×6 Felder, nur Bauern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54880" y="19659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Weiß startet Reihe 6 · Schwarz Reihe 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709160" y="217961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Zugregeln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754880" y="237119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Vorwärts 1 Feld (wenn frei)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4880" y="260023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schlagen möglich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54880" y="283595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Kein Doppelschritt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709160" y="307467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Gewinnbedingungen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4754880" y="325587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Gegnerische Grundlinie erreichen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4880" y="348377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Alle Figuren des Gegners schlagen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4754880" y="36944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Gegner kann nicht mehr ziehen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4709160" y="385630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4754880" y="40940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Figurenzahl · Fortschritt · Zentrum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4754880" y="432378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Positiv = gut für KI (Schwarz)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Tic-Tac-Toe (4 gewinnt)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Spielfeld · Mensch (X) vs. KI (O)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1832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7904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93976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70048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23444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1832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17904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093976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70048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6120" y="1810512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1832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17904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93976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70048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2386584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832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17904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93976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70048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962656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41832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17904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93976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70048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46120" y="3538728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1832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17904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93976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70048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4114800"/>
            <a:ext cx="57607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87552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1563624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87552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3" name="Text 41"/>
          <p:cNvSpPr/>
          <p:nvPr/>
        </p:nvSpPr>
        <p:spPr>
          <a:xfrm>
            <a:off x="2139696" y="1856232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4472C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1563624" y="1280160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2715768" y="2432304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2139696" y="3008376"/>
            <a:ext cx="48463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365760" y="4828032"/>
            <a:ext cx="3456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Mensch  ·  ○ KI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572000" y="1213426"/>
            <a:ext cx="420624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4709160" y="123197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Spielregeln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754177" y="1452665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Abwechselnd Stein setzen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751365" y="163418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Mensch (X) beginnt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754177" y="184427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4 in einer Reihe gewinnt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09160" y="2046497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Gewinnrichtungen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4754880" y="2294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Horizontal, Vertikal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54880" y="248593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Diagonal (beide Richtungen)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757694" y="273625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Unentschieden bei vollem Feld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708457" y="294625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Optimierungen KI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4754177" y="319292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Kandidatenzüge: nur Nachbarfelder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754177" y="3416207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Sortierung nach Zentrumsnähe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757694" y="3620409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Alpha-Beta-Pruning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4709160" y="38119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Bewertungsfunktion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4757694" y="40137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Dreier-Reihe: +50 / -50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751365" y="420017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Zweier-Reihe: +10 / -10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757694" y="4416903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Mittelfeld-Bonus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Benutzerverwaltung &amp; Datenbank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4023360" cy="4572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auth.py · Benutzerverwaltung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5819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register()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331720" y="15819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Validierung + SHA-256 + Salt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login()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20848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Passwort-Hash-Vergleich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5877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save_session()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31720" y="25877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 in session.json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load_session()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09067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Auto-Login beim Start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359359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logout()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359359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löschen + Status reset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096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is_guest()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31720" y="409651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Gastmodus · keine Statistiken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05840"/>
            <a:ext cx="4023360" cy="374904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54880" y="1005840"/>
            <a:ext cx="402336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10515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 · SQLite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1600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users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83480" y="19202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83480" y="21671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username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83480" y="241401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password_hash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83480" y="2660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language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83480" y="290779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created_at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1272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Tabelle: results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83480" y="3350221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83480" y="3569677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user_id (FK)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83480" y="380390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game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83480" y="402793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difficulty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983480" y="423085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won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83480" y="445031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D0D7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played_at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Unittests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TC-01 bis TC-15 · test_all.py · pytest-kompatibel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TC-01 – 03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Passwort-Hashing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Hash-Generierung, Verifikation, Salt-Unterschiede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TC-04 – 06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3035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Benutzer-DB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Registrierung, Duplikat-Erkennung, Abfrage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TC-07 – 08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035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Spielergebnisse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Speichern, Bestenliste abrufen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18872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1280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TC-09 – 10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9472" y="15361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Bauernschach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919472" y="180136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Züge generieren, Anwenden, Gewinner prüfen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237744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237744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19472" y="2468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TC-11 – 12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19472" y="2724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Tic-Tac-Toe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19472" y="2990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Vier-in-Reihe, Kandidatenzüge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3566160"/>
            <a:ext cx="402336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3566160"/>
            <a:ext cx="64008" cy="96012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19472" y="3657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945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TC-13 – 15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919472" y="391363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MiniMax-KI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19472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Offensichtliche Züge, Gewinn erkennen, Blockieren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789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97280" y="110642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vollständige Strategiespiele auf 6×6-Spielfeld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550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🤖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1682496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Wiederverwendbarer MiniMax-Algorithmus mit Alpha-Beta-Pruning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311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🔒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25856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Sichere Authentifizierung: SHA-256-Hashing mit Salt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8072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📦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97280" y="283464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SQLite-Datenbank: keine externen Abhängigkeiten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355848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🖥️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97280" y="341071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tkinter-GUI: plattformübergreifend (Windows / macOS / Linux)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475488"/>
          </a:xfrm>
          <a:prstGeom prst="rect">
            <a:avLst/>
          </a:prstGeom>
          <a:solidFill>
            <a:srgbClr val="1E2A4A"/>
          </a:solidFill>
          <a:ln w="3810">
            <a:solidFill>
              <a:srgbClr val="2A3A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9593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00000"/>
                </a:solidFill>
              </a:rPr>
              <a:t>🧪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97280" y="398678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Unittests sichern die Kernfunktionen ab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4681728"/>
            <a:ext cx="9144000" cy="457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727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HHBKTendo Research Center · HHBK Düsseldorf · Lernfeld 5 · 2026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1A1A2E"/>
                </a:solidFill>
                <a:latin typeface="Arial Black" pitchFamily="49" charset="0"/>
              </a:rPr>
              <a:t>database.py – Flexible Datenbankzugriffe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row_factory · Schema-Migration · SQL-Injection-Schutz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row_factory: Spaltenzugriff per Name statt Index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conn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.row_factory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sqlite3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.Row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row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fetchone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print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"username"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statt row[1]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dict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(row) 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einfache Serialisierung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Schema-Migration: neue Spalte nachrüsten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try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"ALTER TABLE users"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"ADD COLUMN language TEXT DEFAULT 'en'"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conn.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commit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except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sqlite3.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OperationalError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pass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Spalte existiert bereits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SQL-Injection-Schutz: Parameterized Queries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cursor.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execute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"SELECT * FROM users WHERE username = ?"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(username,)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? wird sicher ersetzt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sqlite3.Row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Spaltenzugriff per Name: row["username"] statt row[1]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dict(row)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Einfache Konvertierung für den Rest der App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try/except Migration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DB bleibt kompatibel wenn Spalte schon existiert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?-Platzhalter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Schutz vor SQL-Injection (OWASP Top 10)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IntegrityError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Doppelte Benutzernamen werden sauber abgefangen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FFFFFF"/>
                </a:solidFill>
                <a:latin typeface="Arial Black" pitchFamily="49" charset="0"/>
              </a:rPr>
              <a:t>auth.py – SHA-256 + Salt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Sichere Passwortspeicherung ohne Klartext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import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hashlib, os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hash_password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16 zufällige Bytes → Rainbow-Tables nutzlos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 = os.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urandom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pw_hash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f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"{salt}:{pw_hash}"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zusammen gespeichert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verify_password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(password, stored_hash):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salt, pw_hash = stored_hash.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split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":"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check = hashlib.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sha256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(salt + password).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encode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).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hexdigest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check == pw_hash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Session-Persistenz: Auto-Login beim nächsten Start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save_session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(user_id):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json.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dump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({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"user_id"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user_id}, f)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Kein Klartext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"salt:hash" wird in der Datenbank gespeichert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os.urandom(16)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16 kryptografisch zufällige Bytes als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Rainbow-Tables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Gleiche Passwörter → verschiedene Hashes durch Salt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SHA-256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Einwegfunktion – Hash kann nicht zurückgerechnet werden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Session-JSON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user_id in session.json → Auto-Login ohne erneute Eingabe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1A1A2E"/>
                </a:solidFill>
                <a:latin typeface="Arial Black" pitchFamily="49" charset="0"/>
              </a:rPr>
              <a:t>minimax.py – Ein Algorithmus für alle Spiele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Callback-basiertes Design · Alpha-Beta-Pruning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Callbacks machen minimax spielunabhängig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get_moves_fn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Welche Züge gibt es?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Zug ausführen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Stellung bewerten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is_terminal_fn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Spiel beendet?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Bauernschach: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pc.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Für Tic-Tac-Toe – IDENTISCHER Aufruf: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mm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  ttt.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is_terminal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Alpha-Beta-Pruning: Äste abschneiden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beta &lt;= alpha: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# kein besserer Zug möglich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break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# spart bis zu 90% Rechenzeit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Kein Code-Duplikat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Derselbe MiniMax-Code für beide Spiele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Single Responsibility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KI-Logik und Spiellogik vollständig getrennt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Callbacks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Einfach erweiterbar: drittes Spiel → neue Callbacks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Alpha-Beta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beta ≤ alpha → Ast wird abgebrochen ohne Ergebnis zu ändern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Spielstärke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1–5: von kaum strategisch bis mehrere Sekunden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FFFFFF"/>
                </a:solidFill>
                <a:latin typeface="Arial Black" pitchFamily="49" charset="0"/>
              </a:rPr>
              <a:t>pawn_chess.py – Dreistufige Stellungsbewertung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Heuristik: Figurenzahl · Fortschritt · Zentrumskontrolle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Zentrums-Bonus-Matrix (Mitte ist wertvoller)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CENTER_BONUS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[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evaluate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score 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row, col, piece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all_pieces(board):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BLACK: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KI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     # Figurenzahl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row *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 # Fortschritt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+= CENTER_BONUS[row][col]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Zentrum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elif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piece == WHITE: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Mensch → negativ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+ (BOARD_SIZE-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-row)*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score -= CENTER_BONUS[row][col]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score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Figurenzahl +10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Jeder eigene Bauer zählt +10, jeder gegnerische -10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Fortschritt +row×2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KI wird für Vorwärtsbewegung belohnt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Zentrum +0…+3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Zentralposition ist strategisch wertvoller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Positiv = KI gut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Score &gt; 0 → Vorteil für KI (BLACK = -1)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Heuristik = Stärke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Bessere Bewertungsfunktion → stärkere KI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4472C4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1A1A2E"/>
                </a:solidFill>
                <a:latin typeface="Arial Black" pitchFamily="49" charset="0"/>
              </a:rPr>
              <a:t>tictactoe.py – Kandidatenzüge statt Brute-Force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Optimierte Zugauswahl · Center-Sorting · shallow copy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get_valid_moves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is_maximizing):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Felder neben bereits besetzten betrachten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candidates =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set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(r, c)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occupied: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dr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dc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range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(-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nr, nc = r+dr, c+dc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            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board[nr][nc] == EMPTY: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        candidates.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add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((nr, nc))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Zentrumsnähe-Sortierung → mehr Alpha-Beta-Cuts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center = (BOARD_SIZE -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 /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2.0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sorted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(candidates,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key=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m: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 +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abs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(m[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1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]-center))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shallow copy statt deepcopy – ~5× schneller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move, is_maximizing):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 = [row[:]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for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row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board]</a:t>
            </a:r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# Nur Zeilenreferenzen kopieren – keine rekursive Kopie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new_board[row][col] = AI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if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is_maximizing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else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HUMAN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return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new_board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E8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36 → 8–15 Züge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Statt alle leeren Felder nur Nachbarn prüfen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Center-Sorting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Zentrumsnähe-Sortierung → Alpha-Beta findet früh gute Äste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shallow copy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[row[:] for row in board] statt deepcopy – ~5× schneller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Leeres Brett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Nur 4 Mittelfelder als Start → Spielbaum klein halten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2A3A5E"/>
                </a:solidFill>
                <a:latin typeface="Calibri" pitchFamily="49" charset="0"/>
              </a:rPr>
              <a:t>Effekt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Tiefe 4 in &lt;2 Sek. statt &gt;30 Sek. ohne Optimierung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Stripe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E94560"/>
          </a:solidFill>
        </p:spPr>
      </p:sp>
      <p:sp>
        <p:nvSpPr>
          <p:cNvPr id="3" name="Title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3000" b="1" dirty="0">
                <a:solidFill>
                  <a:srgbClr val="FFFFFF"/>
                </a:solidFill>
                <a:latin typeface="Arial Black" pitchFamily="49" charset="0"/>
              </a:rPr>
              <a:t>main.py – KI-Berechnung ohne GUI-Blockierung</a:t>
            </a:r>
          </a:p>
        </p:txBody>
      </p:sp>
      <p:sp>
        <p:nvSpPr>
          <p:cNvPr id="4" name="Subtitle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ctr"/>
          <a:lstStyle/>
          <a:p>
            <a:pPr marL="0" indent="0" algn="l">
              <a:buNone/>
            </a:pPr>
            <a:r>
              <a:rPr lang="de-DE" sz="1200" dirty="0">
                <a:solidFill>
                  <a:srgbClr val="8892A4"/>
                </a:solidFill>
                <a:latin typeface="Calibri" pitchFamily="49" charset="0"/>
              </a:rPr>
              <a:t>daemon Thread · after(0, ...) · app_state</a:t>
            </a:r>
          </a:p>
        </p:txBody>
      </p:sp>
      <p:sp>
        <p:nvSpPr>
          <p:cNvPr id="5" name="CodeCard"/>
          <p:cNvSpPr/>
          <p:nvPr/>
        </p:nvSpPr>
        <p:spPr>
          <a:xfrm>
            <a:off x="365760" y="1234440"/>
            <a:ext cx="5250000" cy="3650000"/>
          </a:xfrm>
          <a:prstGeom prst="rect">
            <a:avLst/>
          </a:prstGeom>
          <a:solidFill>
            <a:srgbClr val="121224"/>
          </a:solidFill>
          <a:ln w="9525">
            <a:solidFill>
              <a:srgbClr val="4472C4"/>
            </a:solidFill>
            <a:prstDash val="solid"/>
          </a:ln>
        </p:spPr>
      </p:sp>
      <p:sp>
        <p:nvSpPr>
          <p:cNvPr id="6" name="CodeText"/>
          <p:cNvSpPr/>
          <p:nvPr/>
        </p:nvSpPr>
        <p:spPr>
          <a:xfrm>
            <a:off x="457200" y="1325880"/>
            <a:ext cx="506712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Globaler Zustand – kein Klassen-Overhead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app_state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= {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None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aktuelles Spielfeld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GUI sperren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"difficulty"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 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3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  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Suchtiefe 1-5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...}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    def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():  </a:t>
            </a: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# läuft im Hintergrund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best_move = mm.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get_best_move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(board, depth, 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apply_move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(...)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winner = game.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check_winner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"board"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app_state[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"ai_thinking"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] =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False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i="1" dirty="0">
                <a:solidFill>
                  <a:srgbClr val="5C6370"/>
                </a:solidFill>
                <a:latin typeface="Consolas" pitchFamily="49" charset="0"/>
              </a:rPr>
              <a:t>        # ⚠ GUI-Update NUR im Hauptthread!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board_canvas.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  <a:r>
              <a:rPr lang="de-DE" sz="980" dirty="0">
                <a:solidFill>
                  <a:srgbClr val="98C379"/>
                </a:solidFill>
                <a:latin typeface="Consolas" pitchFamily="49" charset="0"/>
              </a:rPr>
              <a:t>0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    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lambda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: 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after_ai_turn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(winner))</a:t>
            </a:r>
          </a:p>
          <a:p>
            <a:pPr>
              <a:buNone/>
            </a:pPr>
            <a:endParaRPr lang="de-DE" sz="600" dirty="0"/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 = threading.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Thread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    target=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ai_worker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, daemon=</a:t>
            </a:r>
            <a:r>
              <a:rPr lang="de-DE" sz="980" dirty="0">
                <a:solidFill>
                  <a:srgbClr val="56B6C2"/>
                </a:solidFill>
                <a:latin typeface="Consolas" pitchFamily="49" charset="0"/>
              </a:rPr>
              <a:t>True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)</a:t>
            </a:r>
          </a:p>
          <a:p>
            <a:pPr marL="0" indent="0" algn="l">
              <a:buNone/>
            </a:pP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    thread.</a:t>
            </a:r>
            <a:r>
              <a:rPr lang="de-DE" sz="980" dirty="0">
                <a:solidFill>
                  <a:srgbClr val="61AFEF"/>
                </a:solidFill>
                <a:latin typeface="Consolas" pitchFamily="49" charset="0"/>
              </a:rPr>
              <a:t>start</a:t>
            </a:r>
            <a:r>
              <a:rPr lang="de-DE" sz="980" dirty="0">
                <a:solidFill>
                  <a:srgbClr val="ABB2BF"/>
                </a:solidFill>
                <a:latin typeface="Consolas" pitchFamily="49" charset="0"/>
              </a:rPr>
              <a:t>()</a:t>
            </a:r>
          </a:p>
        </p:txBody>
      </p:sp>
      <p:sp>
        <p:nvSpPr>
          <p:cNvPr id="7" name="BulletCard"/>
          <p:cNvSpPr/>
          <p:nvPr/>
        </p:nvSpPr>
        <p:spPr>
          <a:xfrm>
            <a:off x="5707200" y="1234440"/>
            <a:ext cx="3071040" cy="3650000"/>
          </a:xfrm>
          <a:prstGeom prst="rect">
            <a:avLst/>
          </a:prstGeom>
          <a:solidFill>
            <a:srgbClr val="1E2A4A"/>
          </a:solidFill>
          <a:ln w="6350">
            <a:solidFill>
              <a:srgbClr val="2A3A5E"/>
            </a:solidFill>
            <a:prstDash val="solid"/>
          </a:ln>
        </p:spPr>
      </p:sp>
      <p:sp>
        <p:nvSpPr>
          <p:cNvPr id="8" name="BulletText"/>
          <p:cNvSpPr/>
          <p:nvPr/>
        </p:nvSpPr>
        <p:spPr>
          <a:xfrm>
            <a:off x="5798640" y="1325880"/>
            <a:ext cx="2888160" cy="3467120"/>
          </a:xfrm>
          <a:prstGeom prst="rect">
            <a:avLst/>
          </a:prstGeom>
          <a:noFill/>
          <a:ln/>
        </p:spPr>
        <p:txBody>
          <a:bodyPr wrap="square" lIns="114300" tIns="91440" rIns="114300" bIns="91440" rtlCol="0" anchor="t"/>
          <a:lstStyle/>
          <a:p>
            <a:pPr marL="342900" indent="-342900" algn="l"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daemon=True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Thread endet automatisch wenn das Fenster geschlossen wird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after(0, fn)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Marshalt den GUI-Update sicher in den tkinter-Hauptthread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Thread-Safety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tkinter ist nicht thread-safe – kein Widget-Zugriff im Thread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app_state dict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Zentraler Zustand ohne Klassen – einfach, direkt, prozedural</a:t>
            </a:r>
          </a:p>
          <a:p>
            <a:pPr marL="342900" indent="-342900" algn="l">
              <a:spcBef>
                <a:spcPts val="160"/>
              </a:spcBef>
              <a:buChar char="▸"/>
            </a:pPr>
            <a:r>
              <a:rPr lang="de-DE" sz="1150" b="1" dirty="0">
                <a:solidFill>
                  <a:srgbClr val="B0C4DE"/>
                </a:solidFill>
                <a:latin typeface="Calibri" pitchFamily="49" charset="0"/>
              </a:rPr>
              <a:t>ai_thinking</a:t>
            </a:r>
          </a:p>
          <a:p>
            <a:pPr marL="342900" indent="0" algn="l">
              <a:buNone/>
            </a:pPr>
            <a:r>
              <a:rPr lang="de-DE" sz="1000" dirty="0">
                <a:solidFill>
                  <a:srgbClr val="8892A4"/>
                </a:solidFill>
                <a:latin typeface="Calibri" pitchFamily="49" charset="0"/>
              </a:rPr>
              <a:t>Sperrt Mauseingaben während die KI berechnet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661</Words>
  <Application>Microsoft Office PowerPoint</Application>
  <PresentationFormat>Bildschirmpräsentation (16:9)</PresentationFormat>
  <Paragraphs>177</Paragraphs>
  <Slides>9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Arial</vt:lpstr>
      <vt:lpstr>Arial Black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HHBKTendo Spielesammlung</dc:title>
  <dc:subject>PptxGenJS Presentation</dc:subject>
  <dc:creator>HHBK Düsseldorf</dc:creator>
  <cp:lastModifiedBy>Niklas Pingel</cp:lastModifiedBy>
  <cp:revision>2</cp:revision>
  <dcterms:created xsi:type="dcterms:W3CDTF">2026-05-05T06:07:02Z</dcterms:created>
  <dcterms:modified xsi:type="dcterms:W3CDTF">2026-05-05T06:33:11Z</dcterms:modified>
</cp:coreProperties>
</file>