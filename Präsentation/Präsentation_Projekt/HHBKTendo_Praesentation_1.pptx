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5" r:id="rId5"/>
    <p:sldId id="262" r:id="rId6"/>
    <p:sldId id="266" r:id="rId7"/>
    <p:sldId id="259" r:id="rId8"/>
    <p:sldId id="267" r:id="rId9"/>
    <p:sldId id="260" r:id="rId10"/>
    <p:sldId id="268" r:id="rId11"/>
    <p:sldId id="261" r:id="rId12"/>
    <p:sldId id="269" r:id="rId13"/>
    <p:sldId id="270" r:id="rId14"/>
    <p:sldId id="263" r:id="rId15"/>
    <p:sldId id="271" r:id="rId16"/>
    <p:sldId id="264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A4A"/>
    <a:srgbClr val="0D0D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4"/>
    <p:restoredTop sz="94610"/>
  </p:normalViewPr>
  <p:slideViewPr>
    <p:cSldViewPr snapToGrid="0" snapToObjects="1">
      <p:cViewPr varScale="1">
        <p:scale>
          <a:sx n="196" d="100"/>
          <a:sy n="196" d="100"/>
        </p:scale>
        <p:origin x="18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053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589520" y="2560320"/>
            <a:ext cx="2011680" cy="201168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498080" y="548640"/>
            <a:ext cx="365760" cy="3657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7955280" y="1005840"/>
            <a:ext cx="274320" cy="2743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0" y="1097280"/>
            <a:ext cx="228600" cy="22860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HHBKTendo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Spielesammlung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Strategiespiele mit MiniMax-KI · Bauernschach &amp; Tic-Tac-Toe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HHBK Düsseldorf  ·  Lernfeld 5  · 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4526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· SQLite · tkinter</a:t>
            </a:r>
            <a:endParaRPr lang="en-US" sz="11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9F427FB-857F-6D66-5546-A4FFFBE11191}"/>
              </a:ext>
            </a:extLst>
          </p:cNvPr>
          <p:cNvSpPr txBox="1"/>
          <p:nvPr/>
        </p:nvSpPr>
        <p:spPr>
          <a:xfrm>
            <a:off x="8737093" y="4875028"/>
            <a:ext cx="228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de-DE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Projektüberblick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1554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Spielesammlung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Strategiespiele: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Bauernschach &amp; Tic-Tac-Toe (4 gewinnt) auf je einem 6×6-Spielfeld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73152" cy="1554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KI-Gegner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MiniMax-Algorithmus mit Alpha-Beta-Pruning — für beide Spiele ohne Code-Duplizierung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73152" cy="1554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Benutzerverwaltung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Registrierung, Login mit SHA-256-Passwort-Hashing · Gast-Modus verfügbar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73152" cy="1554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937760" y="2971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Bestenliste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383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Spielergebnisse in SQLite gespeichert · Rangliste nach Schwierigkeitsgrad</a:t>
            </a:r>
            <a:endParaRPr lang="en-US" sz="12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5E29AD1-3C35-7196-25B7-A6AA341DE76B}"/>
              </a:ext>
            </a:extLst>
          </p:cNvPr>
          <p:cNvSpPr txBox="1"/>
          <p:nvPr/>
        </p:nvSpPr>
        <p:spPr>
          <a:xfrm>
            <a:off x="8737093" y="4875028"/>
            <a:ext cx="228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de-DE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Projektstruktur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77724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64008" cy="7772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0352" y="1069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408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GUI-Einstiegspunkt · Screens &amp; app_state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4114800" cy="77724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64008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30352" y="2029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368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Generischer MiniMax + Alpha-Beta-Pruning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114800" cy="77724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64008" cy="7772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30352" y="2990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pawn_chess.py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3284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Bauernschach · Züge &amp; Bewertungsfunktion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86200"/>
            <a:ext cx="4114800" cy="77724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64008" cy="7772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30352" y="3950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tictactoe.py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4288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Tic-Tac-Toe · Züge &amp; Bewertungsfunktion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77724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64008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010912" y="1069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10912" y="1408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Registrierung · SHA-256 + Salt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965960"/>
            <a:ext cx="4114800" cy="77724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4846320" y="1965960"/>
            <a:ext cx="64008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010912" y="2029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10912" y="2368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CRUD · Benutzer &amp; Spielergebnisse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926080"/>
            <a:ext cx="4114800" cy="77724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4846320" y="2926080"/>
            <a:ext cx="64008" cy="7772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010912" y="2990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test_all.py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10912" y="33284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Unittests (TC-01 bis TC-15)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886200"/>
            <a:ext cx="4114800" cy="77724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4846320" y="3886200"/>
            <a:ext cx="64008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5010912" y="3950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games.db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10912" y="4288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SQLite-Datenbank · wird automatisch erstellt</a:t>
            </a:r>
            <a:endParaRPr lang="en-US" sz="1100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4E68320-6902-F8E4-C0DE-A77B7E7E3137}"/>
              </a:ext>
            </a:extLst>
          </p:cNvPr>
          <p:cNvSpPr txBox="1"/>
          <p:nvPr/>
        </p:nvSpPr>
        <p:spPr>
          <a:xfrm>
            <a:off x="8737093" y="4875028"/>
            <a:ext cx="228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de-DE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Stripe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itle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2800" b="1" dirty="0">
                <a:solidFill>
                  <a:srgbClr val="1A1A2E"/>
                </a:solidFill>
                <a:latin typeface="Arial Black" pitchFamily="49" charset="0"/>
              </a:rPr>
              <a:t>database.py – Flexible Datenbankzugriffe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8892A4"/>
                </a:solidFill>
                <a:latin typeface="Calibri" pitchFamily="49" charset="0"/>
              </a:rPr>
              <a:t>row_factory · Schema-Migration · SQL-Injection-Schutz</a:t>
            </a:r>
          </a:p>
        </p:txBody>
      </p:sp>
      <p:sp>
        <p:nvSpPr>
          <p:cNvPr id="5" name="CodeCard"/>
          <p:cNvSpPr/>
          <p:nvPr/>
        </p:nvSpPr>
        <p:spPr>
          <a:xfrm>
            <a:off x="365760" y="1234440"/>
            <a:ext cx="5250000" cy="3650000"/>
          </a:xfrm>
          <a:prstGeom prst="rect">
            <a:avLst/>
          </a:prstGeom>
          <a:solidFill>
            <a:srgbClr val="121224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CodeText"/>
          <p:cNvSpPr/>
          <p:nvPr/>
        </p:nvSpPr>
        <p:spPr>
          <a:xfrm>
            <a:off x="457200" y="1325880"/>
            <a:ext cx="506712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row_factory: Spaltenzugriff per Name statt Index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conn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.row_factory =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sqlite3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.Row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row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= cursor.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fetchone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print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(row[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"username"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]) 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statt row[1]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return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dict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(row)     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einfache Serialisierung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Schema-Migration: neue Spalte nachrüsten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try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cursor.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execute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"ALTER TABLE users"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"ADD COLUMN language TEXT DEFAULT 'en'"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conn.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commit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except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sqlite3.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OperationalError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pass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Spalte existiert bereits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SQL-Injection-Schutz: Parameterized Queries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cursor.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execute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"SELECT * FROM users WHERE username = ?"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(username,) 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? wird sicher ersetzt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)</a:t>
            </a:r>
          </a:p>
        </p:txBody>
      </p:sp>
      <p:sp>
        <p:nvSpPr>
          <p:cNvPr id="7" name="BulletCard"/>
          <p:cNvSpPr/>
          <p:nvPr/>
        </p:nvSpPr>
        <p:spPr>
          <a:xfrm>
            <a:off x="5707200" y="1234440"/>
            <a:ext cx="3071040" cy="36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BulletText"/>
          <p:cNvSpPr/>
          <p:nvPr/>
        </p:nvSpPr>
        <p:spPr>
          <a:xfrm>
            <a:off x="5798640" y="1325880"/>
            <a:ext cx="288816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342900" indent="-342900" algn="l"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sqlite3.Row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Spaltenzugriff per Name: row["username"] statt row[1]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dict(row)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Einfache Konvertierung für den Rest der App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try/except Migration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DB bleibt kompatibel wenn Spalte schon existiert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?-Platzhalter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Schutz vor SQL-Injection (OWASP Top 10)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IntegrityError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Doppelte Benutzernamen werden sauber abgefangen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FE34108-9161-8AE9-4D11-BFE9571AD1A5}"/>
              </a:ext>
            </a:extLst>
          </p:cNvPr>
          <p:cNvSpPr txBox="1"/>
          <p:nvPr/>
        </p:nvSpPr>
        <p:spPr>
          <a:xfrm>
            <a:off x="8737093" y="4875028"/>
            <a:ext cx="228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de-DE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Benutzerverwaltung &amp; Datenbank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auth.py · Benutzerverwaltung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81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31720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Validierung + SHA-256 + Salt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2084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Passwort-Hash-Vergleich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87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save_session()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31720" y="2587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in session.json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load_session()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3090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Auto-Login beim Start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593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logout()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3593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löschen + Status reset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096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is_guest()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4096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Gastmodus · keine Statistiken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89204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 · SQLite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1600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Tabelle: users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1920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21671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username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4140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password_hash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6609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language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9077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created_at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127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Tabelle: results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3350221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569677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user_id (FK)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8039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game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40279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difficulty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423085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won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445031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played_at</a:t>
            </a:r>
            <a:endParaRPr lang="en-US" sz="1100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6F99A1F6-ABCD-9744-64A1-8C059F8F72AB}"/>
              </a:ext>
            </a:extLst>
          </p:cNvPr>
          <p:cNvSpPr txBox="1"/>
          <p:nvPr/>
        </p:nvSpPr>
        <p:spPr>
          <a:xfrm>
            <a:off x="8737093" y="4875028"/>
            <a:ext cx="228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de-DE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Stripe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itle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2800" b="1" dirty="0">
                <a:solidFill>
                  <a:srgbClr val="FFFFFF"/>
                </a:solidFill>
                <a:latin typeface="Arial Black" pitchFamily="49" charset="0"/>
              </a:rPr>
              <a:t>auth.py – SHA-256 + Salt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8892A4"/>
                </a:solidFill>
                <a:latin typeface="Calibri" pitchFamily="49" charset="0"/>
              </a:rPr>
              <a:t>Sichere Passwortspeicherung ohne Klartext</a:t>
            </a:r>
          </a:p>
        </p:txBody>
      </p:sp>
      <p:sp>
        <p:nvSpPr>
          <p:cNvPr id="5" name="CodeCard"/>
          <p:cNvSpPr/>
          <p:nvPr/>
        </p:nvSpPr>
        <p:spPr>
          <a:xfrm>
            <a:off x="365760" y="1234440"/>
            <a:ext cx="5250000" cy="3650000"/>
          </a:xfrm>
          <a:prstGeom prst="rect">
            <a:avLst/>
          </a:prstGeom>
          <a:solidFill>
            <a:srgbClr val="121224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CodeText"/>
          <p:cNvSpPr/>
          <p:nvPr/>
        </p:nvSpPr>
        <p:spPr>
          <a:xfrm>
            <a:off x="457200" y="1325880"/>
            <a:ext cx="506712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import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hashlib, os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def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hash_password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(password):</a:t>
            </a:r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    # 16 zufällige Bytes → Rainbow-Tables nutzlos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salt = os.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urandom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16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).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hex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pw_hash = hashlib.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sha256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(salt + password).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encode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).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hexdigest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    return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f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"{salt}:{pw_hash}"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  # zusammen gespeichert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def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verify_password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(password, stored_hash):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salt, pw_hash = stored_hash.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split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":"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check = hashlib.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sha256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(salt + password).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encode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).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hexdigest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    return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check == pw_hash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Session-Persistenz: Auto-Login beim nächsten Start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def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save_session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(user_id):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json.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dump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({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"user_id"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: user_id}, f)</a:t>
            </a:r>
          </a:p>
        </p:txBody>
      </p:sp>
      <p:sp>
        <p:nvSpPr>
          <p:cNvPr id="7" name="BulletCard"/>
          <p:cNvSpPr/>
          <p:nvPr/>
        </p:nvSpPr>
        <p:spPr>
          <a:xfrm>
            <a:off x="5707200" y="1234440"/>
            <a:ext cx="3071040" cy="365000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BulletText"/>
          <p:cNvSpPr/>
          <p:nvPr/>
        </p:nvSpPr>
        <p:spPr>
          <a:xfrm>
            <a:off x="5798640" y="1325880"/>
            <a:ext cx="288816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342900" indent="-342900" algn="l"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Kein Klartext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Nur "salt:hash" wird in der Datenbank gespeichert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os.urandom(16)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16 kryptografisch zufällige Bytes als Salt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Rainbow-Tables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Gleiche Passwörter → verschiedene Hashes durch Salt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SHA-256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Einwegfunktion – Hash kann nicht zurückgerechnet werden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Session-JSON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user_id in session.json → Auto-Login ohne erneute Eingabe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74AFA91-6B72-E6D0-D4E5-66B3FB3051E4}"/>
              </a:ext>
            </a:extLst>
          </p:cNvPr>
          <p:cNvSpPr txBox="1"/>
          <p:nvPr/>
        </p:nvSpPr>
        <p:spPr>
          <a:xfrm>
            <a:off x="8737093" y="4875028"/>
            <a:ext cx="228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de-DE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MiniMax-Algorithmus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Alpha-Beta-Pruning · generisch für alle Spiele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Funktionsweise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Rekursive Spielbaumsuche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Bewertet alle möglichen Züge bis zur definierten Tiefe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Maximizer vs. Minimizer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maximiert · Mensch minimiert die Bewertung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Alpha-Beta-Pruning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Irrelevante Äste werden abgeschnitten → deutlich schneller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Callback-basiert &amp; wiederverwendbar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get_moves_fn · apply_move_fn · evaluate_fn · is_terminal_fn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892040" y="1371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Schwierigkeitsstufen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92040" y="1874520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F8FAFF"/>
          </a:solidFill>
          <a:ln w="6350">
            <a:solidFill>
              <a:srgbClr val="E0E8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892040" y="1874520"/>
            <a:ext cx="64008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047488" y="19110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Leicht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9110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Tiefe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47488" y="21214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Kaum strategisch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2468880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F8FAFF"/>
          </a:solidFill>
          <a:ln w="6350">
            <a:solidFill>
              <a:srgbClr val="E0E8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4892040" y="2468880"/>
            <a:ext cx="64008" cy="4754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047488" y="25054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Mittel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5054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Tiefe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7488" y="27157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 Taktiken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3063240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F8FAFF"/>
          </a:solidFill>
          <a:ln w="6350">
            <a:solidFill>
              <a:srgbClr val="E0E8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892040" y="3063240"/>
            <a:ext cx="64008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047488" y="30998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Schwer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0998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Tiefe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47488" y="3310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· empfohlen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3657600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F8FAFF"/>
          </a:solidFill>
          <a:ln w="6350">
            <a:solidFill>
              <a:srgbClr val="E0E8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892040" y="3657600"/>
            <a:ext cx="64008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5047488" y="3694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Experte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6941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Tiefe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47488" y="39044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4251960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F8FAFF"/>
          </a:solidFill>
          <a:ln w="6350">
            <a:solidFill>
              <a:srgbClr val="E0E8F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4892040" y="4251960"/>
            <a:ext cx="64008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047488" y="42885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Meister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4288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Tiefe 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47488" y="4498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stark · mehrere Sekunden</a:t>
            </a:r>
            <a:endParaRPr lang="en-US" sz="1000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F5DE22FE-D745-FBD2-BA50-45CEF9E74425}"/>
              </a:ext>
            </a:extLst>
          </p:cNvPr>
          <p:cNvSpPr txBox="1"/>
          <p:nvPr/>
        </p:nvSpPr>
        <p:spPr>
          <a:xfrm>
            <a:off x="8737093" y="4875028"/>
            <a:ext cx="228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de-DE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Stripe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itle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2800" b="1" dirty="0">
                <a:solidFill>
                  <a:srgbClr val="1A1A2E"/>
                </a:solidFill>
                <a:latin typeface="Arial Black" pitchFamily="49" charset="0"/>
              </a:rPr>
              <a:t>minimax.py – Algorithmus für alle Spiele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8892A4"/>
                </a:solidFill>
                <a:latin typeface="Calibri" pitchFamily="49" charset="0"/>
              </a:rPr>
              <a:t>Callback-basiertes Design · Alpha-Beta-Pruning</a:t>
            </a:r>
          </a:p>
        </p:txBody>
      </p:sp>
      <p:sp>
        <p:nvSpPr>
          <p:cNvPr id="5" name="CodeCard"/>
          <p:cNvSpPr/>
          <p:nvPr/>
        </p:nvSpPr>
        <p:spPr>
          <a:xfrm>
            <a:off x="365760" y="1234440"/>
            <a:ext cx="5250000" cy="3650000"/>
          </a:xfrm>
          <a:prstGeom prst="rect">
            <a:avLst/>
          </a:prstGeom>
          <a:solidFill>
            <a:srgbClr val="121224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CodeText"/>
          <p:cNvSpPr/>
          <p:nvPr/>
        </p:nvSpPr>
        <p:spPr>
          <a:xfrm>
            <a:off x="457200" y="1325880"/>
            <a:ext cx="506712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Callbacks machen minimax spielunabhängig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def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get_best_move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(board, depth,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 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get_moves_fn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Welche Züge gibt es?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 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apply_move_fn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Zug ausführen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 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evaluate_fn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 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Stellung bewerten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 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is_terminal_fn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):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Spiel beendet?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...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Für Bauernschach: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mm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get_best_move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(board, depth,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pc.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get_valid_moves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pc.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apply_move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pc.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evaluate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      pc.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is_terminal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)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Für Tic-Tac-Toe – IDENTISCHER Aufruf: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mm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get_best_move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(board, depth,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ttt.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get_valid_moves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ttt.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apply_move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ttt.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evaluate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      ttt.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is_terminal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)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Alpha-Beta-Pruning: Äste abschneiden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if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beta &lt;= alpha: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  # kein besserer Zug möglich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break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          # spart bis zu 90% Rechenzeit</a:t>
            </a:r>
          </a:p>
        </p:txBody>
      </p:sp>
      <p:sp>
        <p:nvSpPr>
          <p:cNvPr id="7" name="BulletCard"/>
          <p:cNvSpPr/>
          <p:nvPr/>
        </p:nvSpPr>
        <p:spPr>
          <a:xfrm>
            <a:off x="5707200" y="1234440"/>
            <a:ext cx="3071040" cy="36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BulletText"/>
          <p:cNvSpPr/>
          <p:nvPr/>
        </p:nvSpPr>
        <p:spPr>
          <a:xfrm>
            <a:off x="5798640" y="1325880"/>
            <a:ext cx="288816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342900" indent="-342900" algn="l"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Kein Code-Duplikat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Derselbe MiniMax-Code für beide Spiele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Single Responsibility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KI-Logik und Spiellogik vollständig getrennt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Callbacks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Einfach erweiterbar: drittes Spiel → neue Callbacks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Alpha-Beta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beta ≤ alpha → Ast wird abgebrochen ohne Ergebnis zu ändern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Spielstärke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Tiefe 1–5: von kaum strategisch bis mehrere Sekunden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1A0E3FF-07AA-6F45-D8BC-FC914ECDF56E}"/>
              </a:ext>
            </a:extLst>
          </p:cNvPr>
          <p:cNvSpPr txBox="1"/>
          <p:nvPr/>
        </p:nvSpPr>
        <p:spPr>
          <a:xfrm>
            <a:off x="8737093" y="4875028"/>
            <a:ext cx="228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Bauernschach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6×6 Spielfeld · Weiß (Mensch) vs. Schwarz (KI)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41832" y="1234440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517904" y="1234440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2093976" y="1234440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670048" y="1234440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941832" y="1810512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1517904" y="1810512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2093976" y="1810512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2670048" y="1810512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246120" y="1810512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365760" y="2386584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941832" y="2386584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1517904" y="2386584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2093976" y="2386584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2670048" y="2386584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3246120" y="2386584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365760" y="2962656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941832" y="2962656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1517904" y="2962656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2093976" y="2962656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2670048" y="2962656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3246120" y="2962656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365760" y="3538728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941832" y="3538728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1517904" y="3538728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2093976" y="3538728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2670048" y="3538728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3246120" y="3538728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941832" y="4114800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1517904" y="4114800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2093976" y="4114800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2670048" y="4114800"/>
            <a:ext cx="576072" cy="576072"/>
          </a:xfrm>
          <a:prstGeom prst="rect">
            <a:avLst/>
          </a:prstGeom>
          <a:solidFill>
            <a:srgbClr val="2E6DA4"/>
          </a:solidFill>
          <a:ln w="3810">
            <a:solidFill>
              <a:srgbClr val="285F9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7"/>
          <p:cNvSpPr/>
          <p:nvPr/>
        </p:nvSpPr>
        <p:spPr>
          <a:xfrm>
            <a:off x="3246120" y="4114800"/>
            <a:ext cx="576072" cy="576072"/>
          </a:xfrm>
          <a:prstGeom prst="rect">
            <a:avLst/>
          </a:prstGeom>
          <a:solidFill>
            <a:srgbClr val="D4E4F7"/>
          </a:solidFill>
          <a:ln w="381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475488" y="1344168"/>
            <a:ext cx="356616" cy="356616"/>
          </a:xfrm>
          <a:prstGeom prst="ellipse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1051560" y="1344168"/>
            <a:ext cx="356616" cy="356616"/>
          </a:xfrm>
          <a:prstGeom prst="ellipse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1627632" y="1344168"/>
            <a:ext cx="356616" cy="356616"/>
          </a:xfrm>
          <a:prstGeom prst="ellipse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2203704" y="1344168"/>
            <a:ext cx="356616" cy="356616"/>
          </a:xfrm>
          <a:prstGeom prst="ellipse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2779776" y="1344168"/>
            <a:ext cx="356616" cy="356616"/>
          </a:xfrm>
          <a:prstGeom prst="ellipse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3355848" y="1344168"/>
            <a:ext cx="356616" cy="356616"/>
          </a:xfrm>
          <a:prstGeom prst="ellipse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475488" y="4224528"/>
            <a:ext cx="356616" cy="3566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Shape 45"/>
          <p:cNvSpPr/>
          <p:nvPr/>
        </p:nvSpPr>
        <p:spPr>
          <a:xfrm>
            <a:off x="1051560" y="4224528"/>
            <a:ext cx="356616" cy="3566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Shape 46"/>
          <p:cNvSpPr/>
          <p:nvPr/>
        </p:nvSpPr>
        <p:spPr>
          <a:xfrm>
            <a:off x="1627632" y="4224528"/>
            <a:ext cx="356616" cy="3566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47"/>
          <p:cNvSpPr/>
          <p:nvPr/>
        </p:nvSpPr>
        <p:spPr>
          <a:xfrm>
            <a:off x="2203704" y="4224528"/>
            <a:ext cx="356616" cy="3566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8"/>
          <p:cNvSpPr/>
          <p:nvPr/>
        </p:nvSpPr>
        <p:spPr>
          <a:xfrm>
            <a:off x="2779776" y="4224528"/>
            <a:ext cx="356616" cy="3566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3355848" y="4224528"/>
            <a:ext cx="356616" cy="3566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365760" y="478231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KI (Schwarz)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408176" y="478231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Mensch (Weiß)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0" y="1234440"/>
            <a:ext cx="4206240" cy="352044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4709160" y="1371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Spielfeld &amp; Figuren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754880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6×6 Felder, nur Bauern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754880" y="1965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Weiß startet Reihe 6 · Schwarz Reihe 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709160" y="217961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Zugregeln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754880" y="2371197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Vorwärts 1 Feld (wenn frei)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54880" y="260023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Diagonal schlagen möglich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754880" y="2835957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Kein Doppelschritt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709160" y="307467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Gewinnbedingungen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4754880" y="3255879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Gegnerische Grundlinie erreichen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754880" y="3483775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Alle Figuren des Gegners schlagen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754880" y="3694437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Gegner kann nicht mehr ziehen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709160" y="38563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Bewertungsfunktion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4754880" y="4094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Figurenzahl · Fortschritt · Zentrum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754880" y="4323789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Positiv = gut für KI (Schwarz)</a:t>
            </a:r>
            <a:endParaRPr lang="en-US" sz="1100" dirty="0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C2F187C1-B317-37D1-45F5-755AAA8303AC}"/>
              </a:ext>
            </a:extLst>
          </p:cNvPr>
          <p:cNvSpPr txBox="1"/>
          <p:nvPr/>
        </p:nvSpPr>
        <p:spPr>
          <a:xfrm>
            <a:off x="8737093" y="4875028"/>
            <a:ext cx="228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de-DE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Stripe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itle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2800" b="1" dirty="0">
                <a:solidFill>
                  <a:srgbClr val="FFFFFF"/>
                </a:solidFill>
                <a:latin typeface="Arial Black" pitchFamily="49" charset="0"/>
              </a:rPr>
              <a:t>pawn_chess.py 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8892A4"/>
                </a:solidFill>
                <a:latin typeface="Calibri" pitchFamily="49" charset="0"/>
              </a:rPr>
              <a:t>Heuristik: Figurenzahl · Fortschritt · Zentrumskontrolle</a:t>
            </a:r>
          </a:p>
        </p:txBody>
      </p:sp>
      <p:sp>
        <p:nvSpPr>
          <p:cNvPr id="5" name="CodeCard"/>
          <p:cNvSpPr/>
          <p:nvPr/>
        </p:nvSpPr>
        <p:spPr>
          <a:xfrm>
            <a:off x="365760" y="1234440"/>
            <a:ext cx="5250000" cy="3650000"/>
          </a:xfrm>
          <a:prstGeom prst="rect">
            <a:avLst/>
          </a:prstGeom>
          <a:solidFill>
            <a:srgbClr val="121224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CodeText"/>
          <p:cNvSpPr/>
          <p:nvPr/>
        </p:nvSpPr>
        <p:spPr>
          <a:xfrm>
            <a:off x="457200" y="1325880"/>
            <a:ext cx="506712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Zentrums-Bonus-Matrix (Mitte ist wertvoller)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CENTER_BONUS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= [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[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],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[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],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[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3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3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],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[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3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3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],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[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],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[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],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def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evaluate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(board):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score =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    for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row, col, piece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in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all_pieces(board):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        if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piece == BLACK: 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KI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score +=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10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              # Figurenzahl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score += row *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2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         # Fortschritt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score += CENTER_BONUS[row][col] 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Zentrum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        elif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piece == WHITE: 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Mensch → negativ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score -=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+ (BOARD_SIZE-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-row)*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2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score -= CENTER_BONUS[row][col]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    return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score</a:t>
            </a:r>
          </a:p>
        </p:txBody>
      </p:sp>
      <p:sp>
        <p:nvSpPr>
          <p:cNvPr id="7" name="BulletCard"/>
          <p:cNvSpPr/>
          <p:nvPr/>
        </p:nvSpPr>
        <p:spPr>
          <a:xfrm>
            <a:off x="5707200" y="1234440"/>
            <a:ext cx="3071040" cy="365000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BulletText"/>
          <p:cNvSpPr/>
          <p:nvPr/>
        </p:nvSpPr>
        <p:spPr>
          <a:xfrm>
            <a:off x="5798640" y="1325880"/>
            <a:ext cx="288816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342900" indent="-342900" algn="l"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Figurenzahl +10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Jeder eigene Bauer zählt +10, jeder gegnerische -10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Fortschritt +row×2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KI wird für Vorwärtsbewegung belohnt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Zentrum +0…+3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Zentralposition ist strategisch wertvoller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Positiv = KI gut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Score &gt; 0 → Vorteil für KI (BLACK = -1)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Heuristik = Stärke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Bessere Bewertungsfunktion → stärkere KI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8FDAF88-68DE-DAC2-79FD-9A75E624AC6A}"/>
              </a:ext>
            </a:extLst>
          </p:cNvPr>
          <p:cNvSpPr txBox="1"/>
          <p:nvPr/>
        </p:nvSpPr>
        <p:spPr>
          <a:xfrm>
            <a:off x="8630529" y="4868158"/>
            <a:ext cx="3280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de-DE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Tic-Tac-Toe (4 gewinnt)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6×6 Spielfeld · Mensch (X) vs. KI (O)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41832" y="1234440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517904" y="1234440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2093976" y="1234440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670048" y="1234440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941832" y="1810512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1517904" y="1810512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2093976" y="1810512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2670048" y="1810512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246120" y="1810512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365760" y="2386584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941832" y="2386584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1517904" y="2386584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2093976" y="2386584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2670048" y="2386584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3246120" y="2386584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365760" y="2962656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941832" y="2962656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1517904" y="2962656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2093976" y="2962656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2670048" y="2962656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3246120" y="2962656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365760" y="3538728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941832" y="3538728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1517904" y="3538728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2093976" y="3538728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2670048" y="3538728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3246120" y="3538728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941832" y="4114800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1517904" y="4114800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2093976" y="4114800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2670048" y="4114800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7"/>
          <p:cNvSpPr/>
          <p:nvPr/>
        </p:nvSpPr>
        <p:spPr>
          <a:xfrm>
            <a:off x="3246120" y="4114800"/>
            <a:ext cx="57607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987552" y="1856232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47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563624" y="2432304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47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87552" y="3008376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47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2139696" y="1856232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47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563624" y="1280160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2715768" y="2432304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2139696" y="3008376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365760" y="482803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Mensch  ·  ○ KI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0" y="1213426"/>
            <a:ext cx="42062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4709160" y="123197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Spielregeln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754177" y="1452665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Abwechselnd Stein setzen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751365" y="163418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Mensch (X) beginnt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754177" y="184427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 in einer Reihe gewinnt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709160" y="2046497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Gewinnrichtungen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754880" y="229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Horizontal, Vertikal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754880" y="2485937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Diagonal (beide Richtungen)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757694" y="273625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Unentschieden bei vollem Feld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708457" y="294625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Optimierungen KI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754177" y="319292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Kandidatenzüge: nur Nachbarfelder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754177" y="3416207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Sortierung nach Zentrumsnähe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57694" y="3620409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Alpha-Beta-Pruning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709160" y="38119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Bewertungsfunktion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757694" y="40137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Dreier-Reihe: +50 / -50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751365" y="4200173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Zweier-Reihe: +10 / -10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757694" y="4416903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Mittelfeld-Bonus</a:t>
            </a:r>
            <a:endParaRPr lang="en-US" sz="1100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7B3C0734-FDE9-069E-B3EE-EB034B279996}"/>
              </a:ext>
            </a:extLst>
          </p:cNvPr>
          <p:cNvSpPr txBox="1"/>
          <p:nvPr/>
        </p:nvSpPr>
        <p:spPr>
          <a:xfrm>
            <a:off x="8641080" y="4875028"/>
            <a:ext cx="3246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de-DE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Stripe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itle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2800" b="1" dirty="0">
                <a:solidFill>
                  <a:srgbClr val="1A1A2E"/>
                </a:solidFill>
                <a:latin typeface="Arial Black" pitchFamily="49" charset="0"/>
              </a:rPr>
              <a:t>tictactoe.py 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8892A4"/>
                </a:solidFill>
                <a:latin typeface="Calibri" pitchFamily="49" charset="0"/>
              </a:rPr>
              <a:t>Optimierte Zugauswahl · Center-Sorting · shallow copy</a:t>
            </a:r>
          </a:p>
        </p:txBody>
      </p:sp>
      <p:sp>
        <p:nvSpPr>
          <p:cNvPr id="5" name="CodeCard"/>
          <p:cNvSpPr/>
          <p:nvPr/>
        </p:nvSpPr>
        <p:spPr>
          <a:xfrm>
            <a:off x="365760" y="1234440"/>
            <a:ext cx="5250000" cy="3650000"/>
          </a:xfrm>
          <a:prstGeom prst="rect">
            <a:avLst/>
          </a:prstGeom>
          <a:solidFill>
            <a:srgbClr val="121224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CodeText"/>
          <p:cNvSpPr/>
          <p:nvPr/>
        </p:nvSpPr>
        <p:spPr>
          <a:xfrm>
            <a:off x="457200" y="1325880"/>
            <a:ext cx="506712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def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get_valid_moves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(board, is_maximizing):</a:t>
            </a:r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    # Nur Felder neben bereits besetzten betrachten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candidates =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set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    for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(r, c)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in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occupied: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        for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dr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in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range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(-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2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            for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dc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in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range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(-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2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    nr, nc = r+dr, c+dc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                if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board[nr][nc] == EMPTY: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        candidates.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add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((nr, nc))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    # Zentrumsnähe-Sortierung → mehr Alpha-Beta-Cuts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center = (BOARD_SIZE -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) /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2.0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    return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sorted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(candidates,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key=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lambda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m: 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abs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(m[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]-center) +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abs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(m[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1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]-center))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shallow copy statt deepcopy – ~5× schneller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def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apply_move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(board, move, is_maximizing):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new_board = [row[:]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for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row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in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board]</a:t>
            </a:r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    # Nur Zeilenreferenzen kopieren – keine rekursive Kopie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new_board[row][col] = AI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if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is_maximizing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else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HUMAN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    return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new_board</a:t>
            </a:r>
          </a:p>
        </p:txBody>
      </p:sp>
      <p:sp>
        <p:nvSpPr>
          <p:cNvPr id="7" name="BulletCard"/>
          <p:cNvSpPr/>
          <p:nvPr/>
        </p:nvSpPr>
        <p:spPr>
          <a:xfrm>
            <a:off x="5707200" y="1234440"/>
            <a:ext cx="3071040" cy="36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BulletText"/>
          <p:cNvSpPr/>
          <p:nvPr/>
        </p:nvSpPr>
        <p:spPr>
          <a:xfrm>
            <a:off x="5798640" y="1325880"/>
            <a:ext cx="288816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342900" indent="-342900" algn="l"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36 → 8–15 Züge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Statt alle leeren Felder nur Nachbarn prüfen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Center-Sorting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Zentrumsnähe-Sortierung → Alpha-Beta findet früh gute Äste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shallow copy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[row[:] for row in board] statt deepcopy – ~5× schneller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Leeres Brett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Nur 4 Mittelfelder als Start → Spielbaum klein halten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2A3A5E"/>
                </a:solidFill>
                <a:latin typeface="Calibri" pitchFamily="49" charset="0"/>
              </a:rPr>
              <a:t>Effekt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Tiefe 4 in &lt;2 Sek. statt &gt;30 Sek. ohne Optimierung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1C517D1-108E-C2AB-C269-6F61B68B4E2F}"/>
              </a:ext>
            </a:extLst>
          </p:cNvPr>
          <p:cNvSpPr txBox="1"/>
          <p:nvPr/>
        </p:nvSpPr>
        <p:spPr>
          <a:xfrm>
            <a:off x="8619460" y="4875028"/>
            <a:ext cx="3462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Stripe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itle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2800" b="1" dirty="0">
                <a:solidFill>
                  <a:srgbClr val="FFFFFF"/>
                </a:solidFill>
                <a:latin typeface="Arial Black" pitchFamily="49" charset="0"/>
              </a:rPr>
              <a:t>main.py – KI im eigenen Thread 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8892A4"/>
                </a:solidFill>
                <a:latin typeface="Calibri" pitchFamily="49" charset="0"/>
              </a:rPr>
              <a:t>daemon Thread · after(0, ...) · app_state</a:t>
            </a:r>
          </a:p>
        </p:txBody>
      </p:sp>
      <p:sp>
        <p:nvSpPr>
          <p:cNvPr id="5" name="CodeCard"/>
          <p:cNvSpPr/>
          <p:nvPr/>
        </p:nvSpPr>
        <p:spPr>
          <a:xfrm>
            <a:off x="365760" y="1234440"/>
            <a:ext cx="5250000" cy="3650000"/>
          </a:xfrm>
          <a:prstGeom prst="rect">
            <a:avLst/>
          </a:prstGeom>
          <a:solidFill>
            <a:srgbClr val="121224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CodeText"/>
          <p:cNvSpPr/>
          <p:nvPr/>
        </p:nvSpPr>
        <p:spPr>
          <a:xfrm>
            <a:off x="457200" y="1325880"/>
            <a:ext cx="506712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Globaler Zustand – kein Klassen-Overhead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app_state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= {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"board"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:      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None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aktuelles Spielfeld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"ai_thinking"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: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False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GUI sperren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"difficulty"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: 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3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   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Suchtiefe 1-5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...}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def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start_ai_turn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app_state[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"ai_thinking"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 =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True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    def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ai_worker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():  </a:t>
            </a: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läuft im Hintergrund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best_move = mm.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get_best_move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(board, depth, ...)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app_state[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"board"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 = game.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apply_move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(...)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winner = game.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check_winner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(app_state[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"board"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app_state[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"ai_thinking"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] =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False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        # ⚠ GUI-Update NUR im Hauptthread!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board_canvas.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after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0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lambda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: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after_ai_turn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(winner))</a:t>
            </a:r>
          </a:p>
          <a:p>
            <a:pPr>
              <a:buNone/>
            </a:pPr>
            <a:endParaRPr lang="de-DE" sz="600" dirty="0"/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thread = threading.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Thread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target=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ai_worker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daemon=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True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thread.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start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</a:t>
            </a:r>
          </a:p>
        </p:txBody>
      </p:sp>
      <p:sp>
        <p:nvSpPr>
          <p:cNvPr id="7" name="BulletCard"/>
          <p:cNvSpPr/>
          <p:nvPr/>
        </p:nvSpPr>
        <p:spPr>
          <a:xfrm>
            <a:off x="5707200" y="1234440"/>
            <a:ext cx="3071040" cy="3650000"/>
          </a:xfrm>
          <a:prstGeom prst="rect">
            <a:avLst/>
          </a:prstGeom>
          <a:solidFill>
            <a:srgbClr val="1E2A4A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BulletText"/>
          <p:cNvSpPr/>
          <p:nvPr/>
        </p:nvSpPr>
        <p:spPr>
          <a:xfrm>
            <a:off x="5798640" y="1325880"/>
            <a:ext cx="288816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342900" indent="-342900" algn="l"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daemon=True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Thread endet automatisch wenn das Fenster geschlossen wird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after(0, fn)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Marshalt den GUI-Update sicher in den tkinter-Hauptthread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Thread-Safety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tkinter ist nicht thread-safe – kein Widget-Zugriff im Thread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app_state dict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Zentraler Zustand ohne Klassen – einfach, direkt, prozedural</a:t>
            </a:r>
          </a:p>
          <a:p>
            <a:pPr marL="342900" indent="-342900" algn="l">
              <a:spcBef>
                <a:spcPts val="160"/>
              </a:spcBef>
              <a:buChar char="▸"/>
            </a:pPr>
            <a:r>
              <a:rPr lang="de-DE" sz="1150" b="1" dirty="0">
                <a:solidFill>
                  <a:srgbClr val="B0C4DE"/>
                </a:solidFill>
                <a:latin typeface="Calibri" pitchFamily="49" charset="0"/>
              </a:rPr>
              <a:t>ai_thinking</a:t>
            </a:r>
          </a:p>
          <a:p>
            <a:pPr marL="342900" indent="0" algn="l">
              <a:buNone/>
            </a:pPr>
            <a:r>
              <a:rPr lang="de-DE" sz="1000" dirty="0">
                <a:solidFill>
                  <a:srgbClr val="8892A4"/>
                </a:solidFill>
                <a:latin typeface="Calibri" pitchFamily="49" charset="0"/>
              </a:rPr>
              <a:t>Sperrt Mauseingaben während die KI berechnet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6ED5B22-E2A4-E6FD-FC69-77BFD8FC8D7D}"/>
              </a:ext>
            </a:extLst>
          </p:cNvPr>
          <p:cNvSpPr txBox="1"/>
          <p:nvPr/>
        </p:nvSpPr>
        <p:spPr>
          <a:xfrm>
            <a:off x="8626603" y="4875028"/>
            <a:ext cx="3320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de-DE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Unittests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 bis TC-15 · test_all.py · pytest-kompatibel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64008" cy="9601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30352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 – 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Passwort-Hashing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801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Hash-Generierung, Verifikation, Salt-Unterschiede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64008" cy="9601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30352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TC-04 – 06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724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Benutzer-DB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990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Registrierung, Duplikat-Erkennung, Abfrage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64008" cy="9601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30352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TC-07 – 08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913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Spielergebnisse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4178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Speichern, Bestenliste abrufen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64008" cy="9601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919472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TC-09 – 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Bauernschach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1801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Züge generieren, Anwenden, Gewinner prüfen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754880" y="2377440"/>
            <a:ext cx="64008" cy="9601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919472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TC-11 – 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2724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Tic-Tac-Toe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2990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Vier-in-Reihe, Kandidatenzüge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64008" cy="9601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919472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TC-13 – 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3913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MiniMax-KI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9472" y="4178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Offensichtliche Züge, Gewinn erkennen, Blockieren</a:t>
            </a:r>
            <a:endParaRPr lang="en-US" sz="1100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70E83C6-996E-073C-3B13-E8C05CA328E4}"/>
              </a:ext>
            </a:extLst>
          </p:cNvPr>
          <p:cNvSpPr txBox="1"/>
          <p:nvPr/>
        </p:nvSpPr>
        <p:spPr>
          <a:xfrm>
            <a:off x="8668512" y="4875028"/>
            <a:ext cx="2971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de-DE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Stripe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itle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2800" b="1" dirty="0">
                <a:solidFill>
                  <a:srgbClr val="1A1A2E"/>
                </a:solidFill>
                <a:latin typeface="Arial Black" pitchFamily="49" charset="0"/>
              </a:rPr>
              <a:t>test_all.py – Unittest-Framework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8892A4"/>
                </a:solidFill>
                <a:latin typeface="Calibri" pitchFamily="49" charset="0"/>
              </a:rPr>
              <a:t>unittest · Temp-DB-Isolation · Mocking · TC-01 bis TC-15</a:t>
            </a:r>
          </a:p>
        </p:txBody>
      </p:sp>
      <p:sp>
        <p:nvSpPr>
          <p:cNvPr id="5" name="CodeCard"/>
          <p:cNvSpPr/>
          <p:nvPr/>
        </p:nvSpPr>
        <p:spPr>
          <a:xfrm>
            <a:off x="365760" y="1234440"/>
            <a:ext cx="5250000" cy="3650000"/>
          </a:xfrm>
          <a:prstGeom prst="rect">
            <a:avLst/>
          </a:prstGeom>
          <a:solidFill>
            <a:srgbClr val="121224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CodeText"/>
          <p:cNvSpPr/>
          <p:nvPr/>
        </p:nvSpPr>
        <p:spPr>
          <a:xfrm>
            <a:off x="457200" y="1325880"/>
            <a:ext cx="506712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Temp-DB isoliert jeden Testfall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class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DBTestCase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(unittest.TestCase):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def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setUp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(self):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_, path = tempfile.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mkstemp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".db"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self._patch =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patch.object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    database,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"DB_PATH"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, path)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self._patch.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start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(); database.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init_db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</a:t>
            </a:r>
          </a:p>
          <a:p>
            <a:pPr marL="0" indent="0" algn="l">
              <a:buNone/>
            </a:pPr>
            <a:endParaRPr lang="de-DE" sz="980" dirty="0">
              <a:solidFill>
                <a:srgbClr val="ABB2BF"/>
              </a:solidFill>
              <a:latin typeface="Consolas" pitchFamily="49" charset="0"/>
            </a:endParaRPr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TC-09: 4-in-Reihe → Mensch gewinnt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def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test_check_winner_horizontal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(self):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board = ttt.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create_board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for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col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in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range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(4):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board[0][col] = ttt.HUMAN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self.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assertEqual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ttt.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check_winner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(board), </a:t>
            </a:r>
            <a:r>
              <a:rPr lang="de-DE" sz="980" dirty="0">
                <a:solidFill>
                  <a:srgbClr val="98C379"/>
                </a:solidFill>
                <a:latin typeface="Consolas" pitchFamily="49" charset="0"/>
              </a:rPr>
              <a:t>"human"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)</a:t>
            </a:r>
          </a:p>
          <a:p>
            <a:pPr marL="0" indent="0" algn="l">
              <a:buNone/>
            </a:pPr>
            <a:endParaRPr lang="de-DE" sz="980" dirty="0">
              <a:solidFill>
                <a:srgbClr val="ABB2BF"/>
              </a:solidFill>
              <a:latin typeface="Consolas" pitchFamily="49" charset="0"/>
            </a:endParaRPr>
          </a:p>
          <a:p>
            <a:pPr marL="0" indent="0" algn="l">
              <a:buNone/>
            </a:pPr>
            <a:r>
              <a:rPr lang="de-DE" sz="980" i="1" dirty="0">
                <a:solidFill>
                  <a:srgbClr val="5C6370"/>
                </a:solidFill>
                <a:latin typeface="Consolas" pitchFamily="49" charset="0"/>
              </a:rPr>
              <a:t># TC-13: KI spielt Gewinnzug (Tiefe 1)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def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test_ai_takes_winning_move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(self):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for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col </a:t>
            </a:r>
            <a:r>
              <a:rPr lang="de-DE" sz="980" dirty="0">
                <a:solidFill>
                  <a:srgbClr val="56B6C2"/>
                </a:solidFill>
                <a:latin typeface="Consolas" pitchFamily="49" charset="0"/>
              </a:rPr>
              <a:t>in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range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(3):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board[0][col] = ttt.AI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self.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assertEqual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</a:t>
            </a:r>
          </a:p>
          <a:p>
            <a:pPr marL="0" indent="0" algn="l">
              <a:buNone/>
            </a:pP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        self.</a:t>
            </a:r>
            <a:r>
              <a:rPr lang="de-DE" sz="980" dirty="0">
                <a:solidFill>
                  <a:srgbClr val="61AFEF"/>
                </a:solidFill>
                <a:latin typeface="Consolas" pitchFamily="49" charset="0"/>
              </a:rPr>
              <a:t>_best</a:t>
            </a:r>
            <a:r>
              <a:rPr lang="de-DE" sz="980" dirty="0">
                <a:solidFill>
                  <a:srgbClr val="ABB2BF"/>
                </a:solidFill>
                <a:latin typeface="Consolas" pitchFamily="49" charset="0"/>
              </a:rPr>
              <a:t>(board, 1), (0, 3))</a:t>
            </a:r>
          </a:p>
        </p:txBody>
      </p:sp>
      <p:sp>
        <p:nvSpPr>
          <p:cNvPr id="7" name="BulletCard"/>
          <p:cNvSpPr/>
          <p:nvPr/>
        </p:nvSpPr>
        <p:spPr>
          <a:xfrm>
            <a:off x="5707200" y="1234440"/>
            <a:ext cx="3071040" cy="36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BulletText"/>
          <p:cNvSpPr/>
          <p:nvPr/>
        </p:nvSpPr>
        <p:spPr>
          <a:xfrm>
            <a:off x="5798640" y="1325880"/>
            <a:ext cx="2888160" cy="3467120"/>
          </a:xfrm>
          <a:prstGeom prst="rect">
            <a:avLst/>
          </a:prstGeom>
          <a:noFill/>
          <a:ln/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de-DE" sz="1150" b="1" dirty="0">
                <a:solidFill>
                  <a:srgbClr val="2A3A5E"/>
                </a:solidFill>
                <a:latin typeface="Calibri"/>
              </a:rPr>
              <a:t>DBTestCase</a:t>
            </a:r>
            <a:r>
              <a:rPr lang="de-DE" sz="1000" dirty="0">
                <a:solidFill>
                  <a:srgbClr val="8892A4"/>
                </a:solidFill>
                <a:latin typeface="Calibri"/>
              </a:rPr>
              <a:t>
Jeder Test: frische Temp-DB via tempfile + unittest.mock.patch</a:t>
            </a:r>
          </a:p>
          <a:p>
            <a:pPr marL="0" indent="0">
              <a:buNone/>
            </a:pPr>
            <a:r>
              <a:rPr lang="de-DE" sz="1150" b="1" dirty="0">
                <a:solidFill>
                  <a:srgbClr val="2A3A5E"/>
                </a:solidFill>
                <a:latin typeface="Calibri"/>
              </a:rPr>
              <a:t>patch.object</a:t>
            </a:r>
            <a:r>
              <a:rPr lang="de-DE" sz="1000" dirty="0">
                <a:solidFill>
                  <a:srgbClr val="8892A4"/>
                </a:solidFill>
                <a:latin typeface="Calibri"/>
              </a:rPr>
              <a:t>
DB_PATH auf temporäre Datei umgeleitet – keine Produktions-DB</a:t>
            </a:r>
          </a:p>
          <a:p>
            <a:pPr marL="0" indent="0">
              <a:buNone/>
            </a:pPr>
            <a:r>
              <a:rPr lang="de-DE" sz="1150" b="1" dirty="0">
                <a:solidFill>
                  <a:srgbClr val="2A3A5E"/>
                </a:solidFill>
                <a:latin typeface="Calibri"/>
              </a:rPr>
              <a:t>TC-09 / assertEqual</a:t>
            </a:r>
            <a:r>
              <a:rPr lang="de-DE" sz="1000" dirty="0">
                <a:solidFill>
                  <a:srgbClr val="8892A4"/>
                </a:solidFill>
                <a:latin typeface="Calibri"/>
              </a:rPr>
              <a:t>
4 in einer Reihe korrekt als Sieg erkannt</a:t>
            </a:r>
          </a:p>
          <a:p>
            <a:pPr marL="0" indent="0">
              <a:buNone/>
            </a:pPr>
            <a:r>
              <a:rPr lang="de-DE" sz="1150" b="1" dirty="0">
                <a:solidFill>
                  <a:srgbClr val="2A3A5E"/>
                </a:solidFill>
                <a:latin typeface="Calibri"/>
              </a:rPr>
              <a:t>TC-13 / get_best_move</a:t>
            </a:r>
            <a:r>
              <a:rPr lang="de-DE" sz="1000" dirty="0">
                <a:solidFill>
                  <a:srgbClr val="8892A4"/>
                </a:solidFill>
                <a:latin typeface="Calibri"/>
              </a:rPr>
              <a:t>
KI findet sofortigen Gewinnzug bei Tiefe 1 (&lt;1 ms)</a:t>
            </a:r>
          </a:p>
          <a:p>
            <a:pPr marL="0" indent="0">
              <a:buNone/>
            </a:pPr>
            <a:r>
              <a:rPr lang="de-DE" sz="1150" b="1" dirty="0">
                <a:solidFill>
                  <a:srgbClr val="2A3A5E"/>
                </a:solidFill>
                <a:latin typeface="Calibri"/>
              </a:rPr>
              <a:t>60 Testfälle</a:t>
            </a:r>
            <a:r>
              <a:rPr lang="de-DE" sz="1000" dirty="0">
                <a:solidFill>
                  <a:srgbClr val="8892A4"/>
                </a:solidFill>
                <a:latin typeface="Calibri"/>
              </a:rPr>
              <a:t>
8 Klassen · alle ohne GUI · pytest-kompatibel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1A0E3FF-07AA-6F45-D8BC-FC914ECDF56E}"/>
              </a:ext>
            </a:extLst>
          </p:cNvPr>
          <p:cNvSpPr txBox="1"/>
          <p:nvPr/>
        </p:nvSpPr>
        <p:spPr>
          <a:xfrm>
            <a:off x="8636000" y="4875028"/>
            <a:ext cx="3296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Zusammenfassung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75488"/>
          </a:xfrm>
          <a:prstGeom prst="rect">
            <a:avLst/>
          </a:prstGeom>
          <a:solidFill>
            <a:srgbClr val="1E2A4A"/>
          </a:solidFill>
          <a:ln w="381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110642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vollständige Strategiespiele auf 6×6-Spielfeld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8229600" cy="475488"/>
          </a:xfrm>
          <a:prstGeom prst="rect">
            <a:avLst/>
          </a:prstGeom>
          <a:solidFill>
            <a:srgbClr val="1E2A4A"/>
          </a:solidFill>
          <a:ln w="381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8640" y="16550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🤖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168249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Wiederverwendbarer MiniMax-Algorithmus mit Alpha-Beta-Pruning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03704"/>
            <a:ext cx="8229600" cy="475488"/>
          </a:xfrm>
          <a:prstGeom prst="rect">
            <a:avLst/>
          </a:prstGeom>
          <a:solidFill>
            <a:srgbClr val="1E2A4A"/>
          </a:solidFill>
          <a:ln w="381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8640" y="22311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🔒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225856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Sichere Authentifizierung: SHA-256-Hashing mit Salt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8229600" cy="475488"/>
          </a:xfrm>
          <a:prstGeom prst="rect">
            <a:avLst/>
          </a:prstGeom>
          <a:solidFill>
            <a:srgbClr val="1E2A4A"/>
          </a:solidFill>
          <a:ln w="381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48640" y="2807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📦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7280" y="28346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SQLite-Datenbank: keine externen Abhängigkeiten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8229600" cy="475488"/>
          </a:xfrm>
          <a:prstGeom prst="rect">
            <a:avLst/>
          </a:prstGeom>
          <a:solidFill>
            <a:srgbClr val="1E2A4A"/>
          </a:solidFill>
          <a:ln w="381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🖥️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97280" y="341071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tkinter-GUI: plattformübergreifend (Windows / macOS / Linux)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475488"/>
          </a:xfrm>
          <a:prstGeom prst="rect">
            <a:avLst/>
          </a:prstGeom>
          <a:solidFill>
            <a:srgbClr val="1E2A4A"/>
          </a:solidFill>
          <a:ln w="381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48640" y="39593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🧪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97280" y="398678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Unittests sichern die Kernfunktionen ab</a:t>
            </a:r>
            <a:endParaRPr lang="en-US" sz="13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D797B24-347F-FB77-B11F-40EE572E00D3}"/>
              </a:ext>
            </a:extLst>
          </p:cNvPr>
          <p:cNvSpPr txBox="1"/>
          <p:nvPr/>
        </p:nvSpPr>
        <p:spPr>
          <a:xfrm>
            <a:off x="8626549" y="4875028"/>
            <a:ext cx="3391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rgbClr val="1E2A4A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SOLL/IST Feature-Vergleich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0000"/>
            <a:ext cx="82296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2A4"/>
                </a:solidFill>
              </a:rPr>
              <a:t>Lastenheft → Pflichtenheft → Umsetzung →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26110" y="4875028"/>
            <a:ext cx="3395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94560"/>
                </a:solidFill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80000"/>
            <a:ext cx="8595360" cy="1560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880000"/>
            <a:ext cx="64008" cy="1560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0760" y="935000"/>
            <a:ext cx="836036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MUSS-Ziele  ·  12 / 12 umgesetzt 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60" y="1225000"/>
            <a:ext cx="8360360" cy="1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7E8"/>
                </a:solidFill>
              </a:rPr>
              <a:t>Gameplay:   2 Spiele (Bauernschach, Tic-Tac-Toe)  ·  6×6 Brett  ·  5 Schwierigkeitsgrade  ·  Spielabbruch mit Dialog  ·  Regelanzeige im Spiel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Benutzerverwaltung:   Login  ·  Registrierung  ·  Gastmodus (kein Speichern von Ergebnissen)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KI-System:   MiniMax (Thread-basiert, max. 45 Sek./Zug)  ·  Menschlicher Spieler beginnt immer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Persistenz:   Ergebnisse in SQLite  ·  SHA-256 + Salt  ·  Bestenliste pro Spiel &amp;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70000"/>
            <a:ext cx="4114800" cy="1065028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570000"/>
            <a:ext cx="75000" cy="10650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0760" y="2625000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</a:rPr>
              <a:t>SOLL-Ziele  ·  2 / 2 umgesetzt 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760" y="2915000"/>
            <a:ext cx="38798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Alpha-Beta-Pruning (MiniMax-Optimierung)  ✅</a:t>
            </a:r>
          </a:p>
          <a:p>
            <a:pPr algn="l"/>
            <a:r>
              <a:rPr sz="1100" b="0">
                <a:solidFill>
                  <a:srgbClr val="2ECC71"/>
                </a:solidFill>
              </a:rPr>
              <a:t>Bestenliste via SQL-Abfrage aus Datenbank 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570000"/>
            <a:ext cx="4114800" cy="1065028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0" y="2570000"/>
            <a:ext cx="75000" cy="10650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1320" y="2625000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KANN-Ziele  ·  2 / 4 umgesetzt  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320" y="2915000"/>
            <a:ext cx="38798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Sprachwechsel EN/DE  ✅</a:t>
            </a:r>
          </a:p>
          <a:p>
            <a:pPr algn="l"/>
            <a:r>
              <a:rPr sz="1100" b="0">
                <a:solidFill>
                  <a:srgbClr val="2ECC71"/>
                </a:solidFill>
              </a:rPr>
              <a:t>Sprachpräferenz in Datenbank  ✅</a:t>
            </a:r>
          </a:p>
          <a:p>
            <a:pPr algn="l"/>
            <a:r>
              <a:rPr sz="1100" b="0">
                <a:solidFill>
                  <a:srgbClr val="E94560"/>
                </a:solidFill>
              </a:rPr>
              <a:t>Dame (drittes Spiel)  ❌</a:t>
            </a:r>
          </a:p>
          <a:p>
            <a:pPr algn="l"/>
            <a:r>
              <a:rPr sz="1100" b="0">
                <a:solidFill>
                  <a:srgbClr val="E94560"/>
                </a:solidFill>
              </a:rPr>
              <a:t>Alternative KI-Schnittstelle  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59584"/>
            <a:ext cx="8595360" cy="310028"/>
          </a:xfrm>
          <a:prstGeom prst="rect">
            <a:avLst/>
          </a:prstGeom>
          <a:solidFill>
            <a:srgbClr val="14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5760" y="3764584"/>
            <a:ext cx="8395360" cy="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8A92A4"/>
                </a:solidFill>
              </a:rPr>
              <a:t>Alle MUSS- und SOLL-</a:t>
            </a:r>
            <a:r>
              <a:rPr sz="800" b="0" dirty="0" err="1">
                <a:solidFill>
                  <a:srgbClr val="8A92A4"/>
                </a:solidFill>
              </a:rPr>
              <a:t>Anforderungen</a:t>
            </a:r>
            <a:r>
              <a:rPr sz="800" b="0" dirty="0">
                <a:solidFill>
                  <a:srgbClr val="8A92A4"/>
                </a:solidFill>
              </a:rPr>
              <a:t> </a:t>
            </a:r>
            <a:r>
              <a:rPr sz="800" b="0" dirty="0" err="1">
                <a:solidFill>
                  <a:srgbClr val="8A92A4"/>
                </a:solidFill>
              </a:rPr>
              <a:t>erfüllt</a:t>
            </a:r>
            <a:r>
              <a:rPr sz="800" b="0" dirty="0">
                <a:solidFill>
                  <a:srgbClr val="8A92A4"/>
                </a:solidFill>
              </a:rPr>
              <a:t>  ·  KANN-</a:t>
            </a:r>
            <a:r>
              <a:rPr sz="800" b="0" dirty="0" err="1">
                <a:solidFill>
                  <a:srgbClr val="8A92A4"/>
                </a:solidFill>
              </a:rPr>
              <a:t>Ziele</a:t>
            </a:r>
            <a:r>
              <a:rPr sz="800" b="0" dirty="0">
                <a:solidFill>
                  <a:srgbClr val="8A92A4"/>
                </a:solidFill>
              </a:rPr>
              <a:t>: </a:t>
            </a:r>
            <a:r>
              <a:rPr sz="800" b="0" dirty="0" err="1">
                <a:solidFill>
                  <a:srgbClr val="8A92A4"/>
                </a:solidFill>
              </a:rPr>
              <a:t>Sprachwechsel</a:t>
            </a:r>
            <a:r>
              <a:rPr sz="800" b="0" dirty="0">
                <a:solidFill>
                  <a:srgbClr val="8A92A4"/>
                </a:solidFill>
              </a:rPr>
              <a:t> </a:t>
            </a:r>
            <a:r>
              <a:rPr sz="800" b="0" dirty="0" err="1">
                <a:solidFill>
                  <a:srgbClr val="8A92A4"/>
                </a:solidFill>
              </a:rPr>
              <a:t>implementiert</a:t>
            </a:r>
            <a:r>
              <a:rPr sz="800" b="0" dirty="0">
                <a:solidFill>
                  <a:srgbClr val="8A92A4"/>
                </a:solidFill>
              </a:rPr>
              <a:t>, Dame &amp; Alt-KI </a:t>
            </a:r>
            <a:r>
              <a:rPr sz="800" b="0" dirty="0" err="1">
                <a:solidFill>
                  <a:srgbClr val="8A92A4"/>
                </a:solidFill>
              </a:rPr>
              <a:t>zeitbedingt</a:t>
            </a:r>
            <a:r>
              <a:rPr sz="800" b="0" dirty="0">
                <a:solidFill>
                  <a:srgbClr val="8A92A4"/>
                </a:solidFill>
              </a:rPr>
              <a:t> nicht </a:t>
            </a:r>
            <a:r>
              <a:rPr sz="800" b="0" dirty="0" err="1">
                <a:solidFill>
                  <a:srgbClr val="8A92A4"/>
                </a:solidFill>
              </a:rPr>
              <a:t>umgesetzt</a:t>
            </a:r>
            <a:endParaRPr sz="800" b="0" dirty="0">
              <a:solidFill>
                <a:srgbClr val="8A92A4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SOLL/IST Projektplanung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0000"/>
            <a:ext cx="82296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2A4"/>
                </a:solidFill>
              </a:rPr>
              <a:t>Wasserfallmodell  ·  2 Team-Meetings (27.04. &amp; 29.04. 10:00 Uhr)  ·  Koordination via Discord &amp; WhatsApp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26110" y="4875028"/>
            <a:ext cx="3395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rgbClr val="E94560"/>
                </a:solidFill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80000"/>
            <a:ext cx="8595360" cy="360000"/>
          </a:xfrm>
          <a:prstGeom prst="rect">
            <a:avLst/>
          </a:prstGeom>
          <a:solidFill>
            <a:srgbClr val="1A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5760" y="970000"/>
            <a:ext cx="1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5760" y="970000"/>
            <a:ext cx="2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72C4"/>
                </a:solidFill>
              </a:rPr>
              <a:t>SOLL (geplant)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5760" y="970000"/>
            <a:ext cx="2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</a:rPr>
              <a:t>IST (tatsächlich)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5760" y="970000"/>
            <a:ext cx="153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Abweichung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46000"/>
            <a:ext cx="8595360" cy="614000"/>
          </a:xfrm>
          <a:prstGeom prst="rect">
            <a:avLst/>
          </a:prstGeom>
          <a:solidFill>
            <a:srgbClr val="14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246000"/>
            <a:ext cx="6000" cy="614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0760" y="1276000"/>
            <a:ext cx="1775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Analysephase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5760" y="1276000"/>
            <a:ext cx="218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7E8"/>
                </a:solidFill>
              </a:rPr>
              <a:t>Woche 1</a:t>
            </a:r>
          </a:p>
          <a:p>
            <a:pPr algn="l"/>
            <a:r>
              <a:rPr sz="1000" b="0">
                <a:solidFill>
                  <a:srgbClr val="D0D7E8"/>
                </a:solidFill>
              </a:rPr>
              <a:t>20.04.–24.04.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5760" y="1276000"/>
            <a:ext cx="278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7E8"/>
                </a:solidFill>
              </a:rPr>
              <a:t>20.04.–24.04.</a:t>
            </a:r>
          </a:p>
          <a:p>
            <a:pPr algn="l"/>
            <a:r>
              <a:rPr sz="1000" b="0">
                <a:solidFill>
                  <a:srgbClr val="D0D7E8"/>
                </a:solidFill>
              </a:rPr>
              <a:t>Pflichtenheft, WBS, Zeitplan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5760" y="1276000"/>
            <a:ext cx="153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</a:rPr>
              <a:t>✅  Plangemäß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66000"/>
            <a:ext cx="8595360" cy="614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1866000"/>
            <a:ext cx="6000" cy="6140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0760" y="1896000"/>
            <a:ext cx="1775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Implementierung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5760" y="1896000"/>
            <a:ext cx="218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7E8"/>
                </a:solidFill>
              </a:rPr>
              <a:t>Woche 2</a:t>
            </a:r>
          </a:p>
          <a:p>
            <a:pPr algn="l"/>
            <a:r>
              <a:rPr sz="1000" b="0">
                <a:solidFill>
                  <a:srgbClr val="D0D7E8"/>
                </a:solidFill>
              </a:rPr>
              <a:t>27.04.–01.05.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5760" y="1896000"/>
            <a:ext cx="278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7E8"/>
                </a:solidFill>
              </a:rPr>
              <a:t>27.04.–04.05.</a:t>
            </a:r>
          </a:p>
          <a:p>
            <a:pPr algn="l"/>
            <a:r>
              <a:rPr sz="1000" b="0">
                <a:solidFill>
                  <a:srgbClr val="D0D7E8"/>
                </a:solidFill>
              </a:rPr>
              <a:t>(01.05. = Feiertag → +04.05.)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5760" y="1896000"/>
            <a:ext cx="153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⚠  +1 Tag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486000"/>
            <a:ext cx="8595360" cy="614000"/>
          </a:xfrm>
          <a:prstGeom prst="rect">
            <a:avLst/>
          </a:prstGeom>
          <a:solidFill>
            <a:srgbClr val="14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2486000"/>
            <a:ext cx="6000" cy="6140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0760" y="2516000"/>
            <a:ext cx="1775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5760" y="2516000"/>
            <a:ext cx="218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7E8"/>
                </a:solidFill>
              </a:rPr>
              <a:t>Woche 2</a:t>
            </a:r>
          </a:p>
          <a:p>
            <a:pPr algn="l"/>
            <a:r>
              <a:rPr sz="1000" b="0">
                <a:solidFill>
                  <a:srgbClr val="D0D7E8"/>
                </a:solidFill>
              </a:rPr>
              <a:t>Mitte / Ende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5760" y="2516000"/>
            <a:ext cx="278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7E8"/>
                </a:solidFill>
              </a:rPr>
              <a:t>Parallel zur Implementierung</a:t>
            </a:r>
          </a:p>
          <a:p>
            <a:pPr algn="l"/>
            <a:r>
              <a:rPr sz="1000" b="0">
                <a:solidFill>
                  <a:srgbClr val="D0D7E8"/>
                </a:solidFill>
              </a:rPr>
              <a:t>(kein separater Sprint)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5760" y="2516000"/>
            <a:ext cx="153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⚠  Parallel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106000"/>
            <a:ext cx="8595360" cy="614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106000"/>
            <a:ext cx="6000" cy="6140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0760" y="3136000"/>
            <a:ext cx="1775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Dokumentation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5760" y="3136000"/>
            <a:ext cx="218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7E8"/>
                </a:solidFill>
              </a:rPr>
              <a:t>Woche 2</a:t>
            </a:r>
          </a:p>
          <a:p>
            <a:pPr algn="l"/>
            <a:r>
              <a:rPr sz="1000" b="0">
                <a:solidFill>
                  <a:srgbClr val="D0D7E8"/>
                </a:solidFill>
              </a:rPr>
              <a:t>Ende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5760" y="3136000"/>
            <a:ext cx="278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7E8"/>
                </a:solidFill>
              </a:rPr>
              <a:t>Parallel zur Implementierung</a:t>
            </a:r>
          </a:p>
          <a:p>
            <a:pPr algn="l"/>
            <a:r>
              <a:rPr sz="1000" b="0">
                <a:solidFill>
                  <a:srgbClr val="D0D7E8"/>
                </a:solidFill>
              </a:rPr>
              <a:t>(kein separater Sprint)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5760" y="3136000"/>
            <a:ext cx="153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⚠  Parallel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26000"/>
            <a:ext cx="8595360" cy="614000"/>
          </a:xfrm>
          <a:prstGeom prst="rect">
            <a:avLst/>
          </a:prstGeom>
          <a:solidFill>
            <a:srgbClr val="14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3726000"/>
            <a:ext cx="6000" cy="614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0760" y="3756000"/>
            <a:ext cx="1775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Abschluss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5760" y="3756000"/>
            <a:ext cx="218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7E8"/>
                </a:solidFill>
              </a:rPr>
              <a:t>Woche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5760" y="3756000"/>
            <a:ext cx="278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7E8"/>
                </a:solidFill>
              </a:rPr>
              <a:t>Woche 3</a:t>
            </a:r>
          </a:p>
          <a:p>
            <a:pPr algn="l"/>
            <a:r>
              <a:rPr sz="1000" b="0">
                <a:solidFill>
                  <a:srgbClr val="D0D7E8"/>
                </a:solidFill>
              </a:rPr>
              <a:t>Abschlusspräsentation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85760" y="3756000"/>
            <a:ext cx="153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</a:rPr>
              <a:t>✅  Plangemäß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370000"/>
            <a:ext cx="859536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A92A4"/>
                </a:solidFill>
              </a:rPr>
              <a:t>Hauptabweichung: Test und Dokumentation liefen parallel zur Implementierung statt sequenziell  ·  Statt Kanban-Board wurde ein Discord-Channel genutzt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Benutzeroberfläche (GUI)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0000"/>
            <a:ext cx="82296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2A4"/>
                </a:solidFill>
              </a:rPr>
              <a:t>tkinter  ·  HHBKTendo Design System  ·  Dark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26110" y="4875028"/>
            <a:ext cx="3395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rgbClr val="E94560"/>
                </a:solidFill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79999"/>
            <a:ext cx="4114800" cy="3698485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879999"/>
            <a:ext cx="64008" cy="369848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0760" y="935000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</a:rPr>
              <a:t>Screenflow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60" y="1225000"/>
            <a:ext cx="3879800" cy="3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① Login-Screen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   → Login  /  Register  /  Als Gast spielen</a:t>
            </a:r>
          </a:p>
          <a:p>
            <a:pPr algn="l"/>
            <a:endParaRPr sz="1100" b="0">
              <a:solidFill>
                <a:srgbClr val="D0D7E8"/>
              </a:solidFill>
            </a:endParaRPr>
          </a:p>
          <a:p>
            <a:pPr algn="l"/>
            <a:r>
              <a:rPr sz="1100" b="1">
                <a:solidFill>
                  <a:srgbClr val="FFFFFF"/>
                </a:solidFill>
              </a:rPr>
              <a:t>② Hauptmenü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   → Spiel wählen  ·  Schwierigkeitsgrad  ·  Play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   → Bestenliste  ·  Abmelden</a:t>
            </a:r>
          </a:p>
          <a:p>
            <a:pPr algn="l"/>
            <a:endParaRPr sz="1100" b="0">
              <a:solidFill>
                <a:srgbClr val="D0D7E8"/>
              </a:solidFill>
            </a:endParaRPr>
          </a:p>
          <a:p>
            <a:pPr algn="l"/>
            <a:r>
              <a:rPr sz="1100" b="1">
                <a:solidFill>
                  <a:srgbClr val="FFFFFF"/>
                </a:solidFill>
              </a:rPr>
              <a:t>③ Spielscreen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   → 6×6 Brett  ·  Züge per Klick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   → Regeln-Button  ·  Spielabbruch mit Dialog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   → KI-Zug läuft im Hintergrund-Thread</a:t>
            </a:r>
          </a:p>
          <a:p>
            <a:pPr algn="l"/>
            <a:endParaRPr sz="1100" b="0">
              <a:solidFill>
                <a:srgbClr val="D0D7E8"/>
              </a:solidFill>
            </a:endParaRPr>
          </a:p>
          <a:p>
            <a:pPr algn="l"/>
            <a:r>
              <a:rPr sz="1100" b="1">
                <a:solidFill>
                  <a:srgbClr val="FFFFFF"/>
                </a:solidFill>
              </a:rPr>
              <a:t>④ Ergebnis-Overlay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   → Sieg / Niederlage / Unentschieden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   → Zurück zum Hauptmenü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880000"/>
            <a:ext cx="4114800" cy="1590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46320" y="880000"/>
            <a:ext cx="64008" cy="1590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1320" y="935000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HHBKTendo Design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320" y="1225000"/>
            <a:ext cx="3879800" cy="1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7E8"/>
                </a:solidFill>
              </a:rPr>
              <a:t>#0D0D1A   BG Deep Navy      – Hintergrund</a:t>
            </a:r>
          </a:p>
          <a:p>
            <a:pPr algn="l"/>
            <a:r>
              <a:rPr sz="1100" b="0">
                <a:solidFill>
                  <a:srgbClr val="E94560"/>
                </a:solidFill>
              </a:rPr>
              <a:t>#E94560   Hot Pink          – Primär / CTA</a:t>
            </a:r>
          </a:p>
          <a:p>
            <a:pPr algn="l"/>
            <a:r>
              <a:rPr sz="1100" b="0">
                <a:solidFill>
                  <a:srgbClr val="9B59B6"/>
                </a:solidFill>
              </a:rPr>
              <a:t>#6C3FC5   Royal Purple      – Sekundär</a:t>
            </a:r>
          </a:p>
          <a:p>
            <a:pPr algn="l"/>
            <a:r>
              <a:rPr sz="1100" b="0">
                <a:solidFill>
                  <a:srgbClr val="4472C4"/>
                </a:solidFill>
              </a:rPr>
              <a:t>#00D4FF   Cyber Cyan        – Akzent / Hover</a:t>
            </a:r>
          </a:p>
          <a:p>
            <a:pPr algn="l"/>
            <a:r>
              <a:rPr sz="1100" b="0">
                <a:solidFill>
                  <a:srgbClr val="8A92A4"/>
                </a:solidFill>
              </a:rPr>
              <a:t>#161638   Card Navy         – Karten &amp; Container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600000"/>
            <a:ext cx="4114800" cy="1978484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0" y="2600000"/>
            <a:ext cx="64008" cy="19784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1320" y="2655000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tkinter-Besonderheiten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320" y="2945000"/>
            <a:ext cx="3879800" cy="1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</a:rPr>
              <a:t>Buttons als tk.Label + Bindings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   → tk.Button ignoriert bg/fg auf macOS</a:t>
            </a:r>
          </a:p>
          <a:p>
            <a:pPr algn="l"/>
            <a:endParaRPr sz="1100" b="0">
              <a:solidFill>
                <a:srgbClr val="D0D7E8"/>
              </a:solidFill>
            </a:endParaRPr>
          </a:p>
          <a:p>
            <a:pPr algn="l"/>
            <a:r>
              <a:rPr sz="1100" b="1">
                <a:solidFill>
                  <a:srgbClr val="F39C12"/>
                </a:solidFill>
              </a:rPr>
              <a:t>KI-Zug in separatem Thread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   → GUI bleibt reaktionsfähig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   → after(0, callback) für Rückkehr in Hauptthread</a:t>
            </a:r>
          </a:p>
          <a:p>
            <a:pPr algn="l"/>
            <a:endParaRPr sz="1100" b="0">
              <a:solidFill>
                <a:srgbClr val="D0D7E8"/>
              </a:solidFill>
            </a:endParaRPr>
          </a:p>
          <a:p>
            <a:pPr algn="l"/>
            <a:r>
              <a:rPr sz="1100" b="1">
                <a:solidFill>
                  <a:srgbClr val="F39C12"/>
                </a:solidFill>
              </a:rPr>
              <a:t>app_state{} als zentrales Zustandsmodell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   → Prozedurale Architektur (keine Klassen)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Quellen &amp; Werkzeuge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8018" y="4875028"/>
            <a:ext cx="3476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94560"/>
                </a:solidFill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80000"/>
            <a:ext cx="4114800" cy="870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880000"/>
            <a:ext cx="64008" cy="87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0760" y="935000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</a:rPr>
              <a:t>Entwicklungsumgebungen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760" y="1225000"/>
            <a:ext cx="38798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7E8"/>
                </a:solidFill>
              </a:rPr>
              <a:t>PyCharm  (JetBrains)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Visual Studio Code  (Microsoft)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880000"/>
            <a:ext cx="4114800" cy="870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46320" y="880000"/>
            <a:ext cx="64008" cy="87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1320" y="935000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KI-Assistenten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320" y="1225000"/>
            <a:ext cx="38798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7E8"/>
                </a:solidFill>
              </a:rPr>
              <a:t>Claude  (Anthropic)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ChatGPT  (OpenAI)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69999"/>
            <a:ext cx="4114800" cy="1268791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869999"/>
            <a:ext cx="64008" cy="1268791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0760" y="1925000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Python-Bibliotheken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760" y="2215000"/>
            <a:ext cx="38798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7E8"/>
                </a:solidFill>
              </a:rPr>
              <a:t>tkinter     – GUI-Framework (stdlib)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sqlite3     – Datenbankzugriff (stdlib)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hashlib     – SHA-256 Passwort-Hashing (stdlib)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threading   – KI-Zug im Hintergrund (stdlib)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Pillow      – GIF-Animation (pip)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870000"/>
            <a:ext cx="4114800" cy="126879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46320" y="1870000"/>
            <a:ext cx="64008" cy="126879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01320" y="1925000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B59B6"/>
                </a:solidFill>
              </a:rPr>
              <a:t>Quellen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320" y="2215000"/>
            <a:ext cx="38798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7E8"/>
                </a:solidFill>
              </a:rPr>
              <a:t>Wikipedia – Minimax-Algorithmus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Wikipedia – Alpha-Beta-Pruning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HHBK Lernfeld 5 – Unterrichtsmaterial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docs.python.org – Python-Dokumentation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58789"/>
            <a:ext cx="8595360" cy="870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258789"/>
            <a:ext cx="64008" cy="870000"/>
          </a:xfrm>
          <a:prstGeom prst="rect">
            <a:avLst/>
          </a:prstGeom>
          <a:solidFill>
            <a:srgbClr val="8A9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0760" y="3313789"/>
            <a:ext cx="836036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A92A4"/>
                </a:solidFill>
              </a:rPr>
              <a:t>Koordination &amp; Projektmanagement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760" y="3603789"/>
            <a:ext cx="836036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7E8"/>
                </a:solidFill>
              </a:rPr>
              <a:t>Discord-Channel  (tägliche Kommunikation)  ·  WhatsApp  ·  2 Team-Meetings: 27.04. &amp; 29.04. je 10:00 Uhr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Kein Kanban-Board – Discord als leichtgewichtige Alternative gewählt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Fazit – Projektverlauf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26110" y="4875028"/>
            <a:ext cx="3395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94560"/>
                </a:solidFill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80000"/>
            <a:ext cx="4114800" cy="169175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880000"/>
            <a:ext cx="64008" cy="169175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0760" y="935000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B59B6"/>
                </a:solidFill>
              </a:rPr>
              <a:t>Team &amp; Rollenverteilung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760" y="1225000"/>
            <a:ext cx="38798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D0D7E8"/>
                </a:solidFill>
              </a:rPr>
              <a:t>Lucas    – </a:t>
            </a:r>
            <a:r>
              <a:rPr sz="1100" b="0" dirty="0" err="1">
                <a:solidFill>
                  <a:srgbClr val="D0D7E8"/>
                </a:solidFill>
              </a:rPr>
              <a:t>Projektleitung</a:t>
            </a:r>
            <a:r>
              <a:rPr sz="1100" b="0" dirty="0">
                <a:solidFill>
                  <a:srgbClr val="D0D7E8"/>
                </a:solidFill>
              </a:rPr>
              <a:t>, </a:t>
            </a:r>
            <a:r>
              <a:rPr sz="1100" b="0" dirty="0" err="1">
                <a:solidFill>
                  <a:srgbClr val="D0D7E8"/>
                </a:solidFill>
              </a:rPr>
              <a:t>auth.py</a:t>
            </a:r>
            <a:r>
              <a:rPr sz="1100" b="0" dirty="0">
                <a:solidFill>
                  <a:srgbClr val="D0D7E8"/>
                </a:solidFill>
              </a:rPr>
              <a:t>, Testing</a:t>
            </a:r>
          </a:p>
          <a:p>
            <a:pPr algn="l"/>
            <a:r>
              <a:rPr sz="1100" b="0" dirty="0">
                <a:solidFill>
                  <a:srgbClr val="D0D7E8"/>
                </a:solidFill>
              </a:rPr>
              <a:t>Jesse    – </a:t>
            </a:r>
            <a:r>
              <a:rPr sz="1100" b="0" dirty="0" err="1">
                <a:solidFill>
                  <a:srgbClr val="D0D7E8"/>
                </a:solidFill>
              </a:rPr>
              <a:t>database.py</a:t>
            </a:r>
            <a:r>
              <a:rPr sz="1100" b="0" dirty="0">
                <a:solidFill>
                  <a:srgbClr val="D0D7E8"/>
                </a:solidFill>
              </a:rPr>
              <a:t>, Pitch, Testing</a:t>
            </a:r>
            <a:endParaRPr lang="de-DE" sz="1100" b="0" dirty="0">
              <a:solidFill>
                <a:srgbClr val="D0D7E8"/>
              </a:solidFill>
            </a:endParaRPr>
          </a:p>
          <a:p>
            <a:r>
              <a:rPr lang="de-DE" sz="1100" dirty="0">
                <a:solidFill>
                  <a:srgbClr val="D0D7E8"/>
                </a:solidFill>
              </a:rPr>
              <a:t>Arda     – </a:t>
            </a:r>
            <a:r>
              <a:rPr lang="de-DE" sz="1100" dirty="0" err="1">
                <a:solidFill>
                  <a:srgbClr val="D0D7E8"/>
                </a:solidFill>
              </a:rPr>
              <a:t>database.py</a:t>
            </a:r>
            <a:r>
              <a:rPr lang="de-DE" sz="1100" dirty="0">
                <a:solidFill>
                  <a:srgbClr val="D0D7E8"/>
                </a:solidFill>
              </a:rPr>
              <a:t>, </a:t>
            </a:r>
            <a:r>
              <a:rPr lang="de-DE" sz="1100" dirty="0" err="1">
                <a:solidFill>
                  <a:srgbClr val="D0D7E8"/>
                </a:solidFill>
              </a:rPr>
              <a:t>Testing</a:t>
            </a:r>
            <a:endParaRPr sz="1100" b="0" dirty="0">
              <a:solidFill>
                <a:srgbClr val="D0D7E8"/>
              </a:solidFill>
            </a:endParaRPr>
          </a:p>
          <a:p>
            <a:pPr algn="l"/>
            <a:r>
              <a:rPr sz="1100" b="0" dirty="0">
                <a:solidFill>
                  <a:srgbClr val="D0D7E8"/>
                </a:solidFill>
              </a:rPr>
              <a:t>Uilliam  – GUI (</a:t>
            </a:r>
            <a:r>
              <a:rPr sz="1100" b="0" dirty="0" err="1">
                <a:solidFill>
                  <a:srgbClr val="D0D7E8"/>
                </a:solidFill>
              </a:rPr>
              <a:t>main.py</a:t>
            </a:r>
            <a:r>
              <a:rPr sz="1100" b="0" dirty="0">
                <a:solidFill>
                  <a:srgbClr val="D0D7E8"/>
                </a:solidFill>
              </a:rPr>
              <a:t>), Design</a:t>
            </a:r>
          </a:p>
          <a:p>
            <a:pPr algn="l"/>
            <a:r>
              <a:rPr sz="1100" b="0" dirty="0">
                <a:solidFill>
                  <a:srgbClr val="D0D7E8"/>
                </a:solidFill>
              </a:rPr>
              <a:t>Jakub    – </a:t>
            </a:r>
            <a:r>
              <a:rPr sz="1100" b="0" dirty="0" err="1">
                <a:solidFill>
                  <a:srgbClr val="D0D7E8"/>
                </a:solidFill>
              </a:rPr>
              <a:t>pawn_chess.py</a:t>
            </a:r>
            <a:endParaRPr sz="1100" b="0" dirty="0">
              <a:solidFill>
                <a:srgbClr val="D0D7E8"/>
              </a:solidFill>
            </a:endParaRPr>
          </a:p>
          <a:p>
            <a:pPr algn="l"/>
            <a:r>
              <a:rPr sz="1100" b="0" dirty="0">
                <a:solidFill>
                  <a:srgbClr val="D0D7E8"/>
                </a:solidFill>
              </a:rPr>
              <a:t>Niklas   – </a:t>
            </a:r>
            <a:r>
              <a:rPr sz="1100" b="0" dirty="0" err="1">
                <a:solidFill>
                  <a:srgbClr val="D0D7E8"/>
                </a:solidFill>
              </a:rPr>
              <a:t>minimax.py</a:t>
            </a:r>
            <a:endParaRPr sz="1100" b="0" dirty="0">
              <a:solidFill>
                <a:srgbClr val="D0D7E8"/>
              </a:solidFill>
            </a:endParaRPr>
          </a:p>
          <a:p>
            <a:pPr algn="l"/>
            <a:r>
              <a:rPr sz="1100" b="0" dirty="0">
                <a:solidFill>
                  <a:srgbClr val="D0D7E8"/>
                </a:solidFill>
              </a:rPr>
              <a:t>Jamie    – </a:t>
            </a:r>
            <a:r>
              <a:rPr sz="1100" b="0" dirty="0" err="1">
                <a:solidFill>
                  <a:srgbClr val="D0D7E8"/>
                </a:solidFill>
              </a:rPr>
              <a:t>tictactoe.py</a:t>
            </a:r>
            <a:endParaRPr sz="1100" b="0" dirty="0">
              <a:solidFill>
                <a:srgbClr val="D0D7E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46320" y="880000"/>
            <a:ext cx="4114800" cy="1117468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46320" y="880000"/>
            <a:ext cx="64008" cy="11174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1320" y="935000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320" y="1225000"/>
            <a:ext cx="38798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2ECC71"/>
                </a:solidFill>
              </a:rPr>
              <a:t>Spielunabhängige</a:t>
            </a:r>
            <a:r>
              <a:rPr sz="1100" b="0" dirty="0">
                <a:solidFill>
                  <a:srgbClr val="2ECC71"/>
                </a:solidFill>
              </a:rPr>
              <a:t> </a:t>
            </a:r>
            <a:r>
              <a:rPr sz="1100" b="0" dirty="0" err="1">
                <a:solidFill>
                  <a:srgbClr val="2ECC71"/>
                </a:solidFill>
              </a:rPr>
              <a:t>MiniMax-Schnittstelle</a:t>
            </a:r>
            <a:r>
              <a:rPr sz="1100" b="0" dirty="0">
                <a:solidFill>
                  <a:srgbClr val="2ECC71"/>
                </a:solidFill>
              </a:rPr>
              <a:t>  –  </a:t>
            </a:r>
            <a:r>
              <a:rPr sz="1100" b="0" dirty="0" err="1">
                <a:solidFill>
                  <a:srgbClr val="2ECC71"/>
                </a:solidFill>
              </a:rPr>
              <a:t>eine</a:t>
            </a:r>
            <a:r>
              <a:rPr sz="1100" b="0" dirty="0">
                <a:solidFill>
                  <a:srgbClr val="2ECC71"/>
                </a:solidFill>
              </a:rPr>
              <a:t> KI-Engine für alle </a:t>
            </a:r>
            <a:r>
              <a:rPr sz="1100" b="0" dirty="0" err="1">
                <a:solidFill>
                  <a:srgbClr val="2ECC71"/>
                </a:solidFill>
              </a:rPr>
              <a:t>Spiele</a:t>
            </a:r>
            <a:endParaRPr sz="1100" b="0" dirty="0">
              <a:solidFill>
                <a:srgbClr val="2ECC71"/>
              </a:solidFill>
            </a:endParaRPr>
          </a:p>
          <a:p>
            <a:pPr algn="l"/>
            <a:r>
              <a:rPr sz="1100" b="0" dirty="0" err="1">
                <a:solidFill>
                  <a:srgbClr val="D0D7E8"/>
                </a:solidFill>
              </a:rPr>
              <a:t>Teamarbeit</a:t>
            </a:r>
            <a:r>
              <a:rPr sz="1100" b="0" dirty="0">
                <a:solidFill>
                  <a:srgbClr val="D0D7E8"/>
                </a:solidFill>
              </a:rPr>
              <a:t> </a:t>
            </a:r>
            <a:r>
              <a:rPr sz="1100" b="0" dirty="0" err="1">
                <a:solidFill>
                  <a:srgbClr val="D0D7E8"/>
                </a:solidFill>
              </a:rPr>
              <a:t>reibungslos</a:t>
            </a:r>
            <a:r>
              <a:rPr sz="1100" b="0" dirty="0">
                <a:solidFill>
                  <a:srgbClr val="D0D7E8"/>
                </a:solidFill>
              </a:rPr>
              <a:t> dank </a:t>
            </a:r>
            <a:r>
              <a:rPr sz="1100" b="0" dirty="0" err="1">
                <a:solidFill>
                  <a:srgbClr val="D0D7E8"/>
                </a:solidFill>
              </a:rPr>
              <a:t>klarem</a:t>
            </a:r>
            <a:r>
              <a:rPr sz="1100" b="0" dirty="0">
                <a:solidFill>
                  <a:srgbClr val="D0D7E8"/>
                </a:solidFill>
              </a:rPr>
              <a:t> </a:t>
            </a:r>
            <a:r>
              <a:rPr sz="1100" b="0" dirty="0" err="1">
                <a:solidFill>
                  <a:srgbClr val="D0D7E8"/>
                </a:solidFill>
              </a:rPr>
              <a:t>Pflichtenheft</a:t>
            </a:r>
            <a:r>
              <a:rPr sz="1100" b="0" dirty="0">
                <a:solidFill>
                  <a:srgbClr val="D0D7E8"/>
                </a:solidFill>
              </a:rPr>
              <a:t> und </a:t>
            </a:r>
            <a:r>
              <a:rPr sz="1100" b="0" dirty="0" err="1">
                <a:solidFill>
                  <a:srgbClr val="D0D7E8"/>
                </a:solidFill>
              </a:rPr>
              <a:t>gegenseitiger</a:t>
            </a:r>
            <a:r>
              <a:rPr sz="1100" b="0" dirty="0">
                <a:solidFill>
                  <a:srgbClr val="D0D7E8"/>
                </a:solidFill>
              </a:rPr>
              <a:t> </a:t>
            </a:r>
            <a:r>
              <a:rPr sz="1100" b="0" dirty="0" err="1">
                <a:solidFill>
                  <a:srgbClr val="D0D7E8"/>
                </a:solidFill>
              </a:rPr>
              <a:t>Hilfe</a:t>
            </a:r>
            <a:endParaRPr sz="1100" b="0" dirty="0">
              <a:solidFill>
                <a:srgbClr val="D0D7E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46320" y="2117468"/>
            <a:ext cx="4114800" cy="830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46320" y="2117468"/>
            <a:ext cx="64008" cy="83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01320" y="2172468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Lessons Learnt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320" y="2462468"/>
            <a:ext cx="38798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9C12"/>
                </a:solidFill>
              </a:rPr>
              <a:t>Kanban-Board früher einsetzen</a:t>
            </a:r>
          </a:p>
          <a:p>
            <a:pPr algn="l"/>
            <a:r>
              <a:rPr sz="1100" b="0">
                <a:solidFill>
                  <a:srgbClr val="F39C12"/>
                </a:solidFill>
              </a:rPr>
              <a:t>Schnittstellen detaillierter im Pflichtenheft definieren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43082"/>
            <a:ext cx="4114800" cy="1324658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743082"/>
            <a:ext cx="64008" cy="132465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5264" y="2814968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4472C4"/>
                </a:solidFill>
              </a:rPr>
              <a:t>Projektzeitraum</a:t>
            </a:r>
            <a:endParaRPr sz="1300" b="1" dirty="0">
              <a:solidFill>
                <a:srgbClr val="4472C4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5264" y="3104968"/>
            <a:ext cx="3879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D0D7E8"/>
                </a:solidFill>
              </a:rPr>
              <a:t>Phase 1:  20.04.–24.04.   </a:t>
            </a:r>
            <a:r>
              <a:rPr sz="1100" b="0" dirty="0" err="1">
                <a:solidFill>
                  <a:srgbClr val="D0D7E8"/>
                </a:solidFill>
              </a:rPr>
              <a:t>Analyse</a:t>
            </a:r>
            <a:r>
              <a:rPr sz="1100" b="0" dirty="0">
                <a:solidFill>
                  <a:srgbClr val="D0D7E8"/>
                </a:solidFill>
              </a:rPr>
              <a:t> &amp; </a:t>
            </a:r>
            <a:r>
              <a:rPr sz="1100" b="0" dirty="0" err="1">
                <a:solidFill>
                  <a:srgbClr val="D0D7E8"/>
                </a:solidFill>
              </a:rPr>
              <a:t>Planung</a:t>
            </a:r>
            <a:endParaRPr sz="1100" b="0" dirty="0">
              <a:solidFill>
                <a:srgbClr val="D0D7E8"/>
              </a:solidFill>
            </a:endParaRPr>
          </a:p>
          <a:p>
            <a:pPr algn="l"/>
            <a:r>
              <a:rPr sz="1100" b="0" dirty="0">
                <a:solidFill>
                  <a:srgbClr val="D0D7E8"/>
                </a:solidFill>
              </a:rPr>
              <a:t>Phase 2:  27.04.–04.05.   </a:t>
            </a:r>
            <a:r>
              <a:rPr sz="1100" b="0" dirty="0" err="1">
                <a:solidFill>
                  <a:srgbClr val="D0D7E8"/>
                </a:solidFill>
              </a:rPr>
              <a:t>Implementierung</a:t>
            </a:r>
            <a:r>
              <a:rPr sz="1100" b="0" dirty="0">
                <a:solidFill>
                  <a:srgbClr val="D0D7E8"/>
                </a:solidFill>
              </a:rPr>
              <a:t> &amp; Test</a:t>
            </a:r>
          </a:p>
          <a:p>
            <a:pPr algn="l"/>
            <a:r>
              <a:rPr sz="1100" b="0" dirty="0" err="1">
                <a:solidFill>
                  <a:srgbClr val="D0D7E8"/>
                </a:solidFill>
              </a:rPr>
              <a:t>Gesamtdauer</a:t>
            </a:r>
            <a:r>
              <a:rPr sz="1100" b="0" dirty="0">
                <a:solidFill>
                  <a:srgbClr val="D0D7E8"/>
                </a:solidFill>
              </a:rPr>
              <a:t>: ~2 </a:t>
            </a:r>
            <a:r>
              <a:rPr sz="1100" b="0" dirty="0" err="1">
                <a:solidFill>
                  <a:srgbClr val="D0D7E8"/>
                </a:solidFill>
              </a:rPr>
              <a:t>Wochen</a:t>
            </a:r>
            <a:r>
              <a:rPr sz="1100" b="0" dirty="0">
                <a:solidFill>
                  <a:srgbClr val="D0D7E8"/>
                </a:solidFill>
              </a:rPr>
              <a:t> </a:t>
            </a:r>
            <a:r>
              <a:rPr sz="1100" b="0" dirty="0" err="1">
                <a:solidFill>
                  <a:srgbClr val="D0D7E8"/>
                </a:solidFill>
              </a:rPr>
              <a:t>Vollzeit</a:t>
            </a:r>
            <a:r>
              <a:rPr sz="1100" b="0" dirty="0">
                <a:solidFill>
                  <a:srgbClr val="D0D7E8"/>
                </a:solidFill>
              </a:rPr>
              <a:t>  ·  6 </a:t>
            </a:r>
            <a:r>
              <a:rPr sz="1100" b="0" dirty="0" err="1">
                <a:solidFill>
                  <a:srgbClr val="D0D7E8"/>
                </a:solidFill>
              </a:rPr>
              <a:t>Personen</a:t>
            </a:r>
            <a:endParaRPr sz="1100" b="0" dirty="0">
              <a:solidFill>
                <a:srgbClr val="D0D7E8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46320" y="3067468"/>
            <a:ext cx="4114800" cy="1000272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46320" y="3067468"/>
            <a:ext cx="64008" cy="1000272"/>
          </a:xfrm>
          <a:prstGeom prst="rect">
            <a:avLst/>
          </a:prstGeom>
          <a:solidFill>
            <a:srgbClr val="8A9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1320" y="3122468"/>
            <a:ext cx="38798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A92A4"/>
                </a:solidFill>
              </a:rPr>
              <a:t>Ausblick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1320" y="3412468"/>
            <a:ext cx="3879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7E8"/>
                </a:solidFill>
              </a:rPr>
              <a:t>Dame als drittes Spiel (PF-K03)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Sprach-Auswahl im Menü weiter ausbauen</a:t>
            </a:r>
          </a:p>
          <a:p>
            <a:pPr algn="l"/>
            <a:r>
              <a:rPr sz="1100" b="0">
                <a:solidFill>
                  <a:srgbClr val="D0D7E8"/>
                </a:solidFill>
              </a:rPr>
              <a:t>Kanban-Board für Folgeprojekte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0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100000"/>
            <a:ext cx="914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HHBKTendo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372000" y="1900000"/>
            <a:ext cx="2400000" cy="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970000"/>
            <a:ext cx="9144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94560"/>
                </a:solidFill>
              </a:rPr>
              <a:t>Spielesammlung – Strategiespiele mit MiniMax-KI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20000"/>
            <a:ext cx="91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0D7E8"/>
                </a:solidFill>
              </a:rPr>
              <a:t>Vielen Dank für eure Aufmerksamkeit!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150000"/>
            <a:ext cx="914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2A4"/>
                </a:solidFill>
              </a:rPr>
              <a:t>Lucas  ·  Jesse  ·  Uilliam  ·  Jakub  ·  Niklas  ·  Jamie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530000"/>
            <a:ext cx="914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5680"/>
                </a:solidFill>
              </a:rPr>
              <a:t>Classic Games. Real Intelligence.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480500"/>
            <a:ext cx="9144000" cy="663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553500"/>
            <a:ext cx="4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2A4"/>
                </a:solidFill>
              </a:rPr>
              <a:t>HHBK Düsseldorf  ·  Lernfeld 5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0000" y="45535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E94560"/>
                </a:solidFill>
              </a:rPr>
              <a:t>Python 3.10+ · SQLite · tkinter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6110" y="4875500"/>
            <a:ext cx="3395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rgbClr val="E94560"/>
                </a:solidFill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3087</Words>
  <Application>Microsoft Macintosh PowerPoint</Application>
  <PresentationFormat>Bildschirmpräsentation (16:9)</PresentationFormat>
  <Paragraphs>564</Paragraphs>
  <Slides>22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HHBKTendo Spielesammlung</dc:title>
  <dc:subject>PptxGenJS Presentation</dc:subject>
  <dc:creator>HHBK Düsseldorf</dc:creator>
  <cp:lastModifiedBy>Lucas Geldmacher</cp:lastModifiedBy>
  <cp:revision>13</cp:revision>
  <dcterms:created xsi:type="dcterms:W3CDTF">2026-05-05T06:07:02Z</dcterms:created>
  <dcterms:modified xsi:type="dcterms:W3CDTF">2026-05-08T09:11:19Z</dcterms:modified>
</cp:coreProperties>
</file>